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15475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0"/>
                </a:moveTo>
                <a:lnTo>
                  <a:pt x="0" y="10782"/>
                </a:lnTo>
                <a:lnTo>
                  <a:pt x="18288000" y="37693"/>
                </a:lnTo>
                <a:lnTo>
                  <a:pt x="18288000" y="26911"/>
                </a:lnTo>
                <a:lnTo>
                  <a:pt x="0" y="0"/>
                </a:lnTo>
                <a:close/>
              </a:path>
            </a:pathLst>
          </a:custGeom>
          <a:solidFill>
            <a:srgbClr val="2C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200150"/>
            <a:ext cx="18288000" cy="142240"/>
          </a:xfrm>
          <a:custGeom>
            <a:avLst/>
            <a:gdLst/>
            <a:ahLst/>
            <a:cxnLst/>
            <a:rect l="l" t="t" r="r" b="b"/>
            <a:pathLst>
              <a:path w="18288000" h="142240">
                <a:moveTo>
                  <a:pt x="0" y="0"/>
                </a:moveTo>
                <a:lnTo>
                  <a:pt x="0" y="49149"/>
                </a:lnTo>
                <a:lnTo>
                  <a:pt x="18288000" y="142240"/>
                </a:lnTo>
                <a:lnTo>
                  <a:pt x="18288000" y="93091"/>
                </a:lnTo>
                <a:lnTo>
                  <a:pt x="0" y="0"/>
                </a:lnTo>
                <a:close/>
              </a:path>
            </a:pathLst>
          </a:custGeom>
          <a:solidFill>
            <a:srgbClr val="2C75B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8553450"/>
            <a:ext cx="5753100" cy="15525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1600200"/>
            <a:ext cx="8963025" cy="70389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1638300"/>
            <a:ext cx="8848725" cy="69246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09562" y="1642998"/>
            <a:ext cx="8848725" cy="6924675"/>
          </a:xfrm>
          <a:custGeom>
            <a:avLst/>
            <a:gdLst/>
            <a:ahLst/>
            <a:cxnLst/>
            <a:rect l="l" t="t" r="r" b="b"/>
            <a:pathLst>
              <a:path w="8848725" h="6924675">
                <a:moveTo>
                  <a:pt x="0" y="1154176"/>
                </a:moveTo>
                <a:lnTo>
                  <a:pt x="1015" y="1105407"/>
                </a:lnTo>
                <a:lnTo>
                  <a:pt x="4025" y="1057148"/>
                </a:lnTo>
                <a:lnTo>
                  <a:pt x="9004" y="1009523"/>
                </a:lnTo>
                <a:lnTo>
                  <a:pt x="15900" y="962405"/>
                </a:lnTo>
                <a:lnTo>
                  <a:pt x="24663" y="915924"/>
                </a:lnTo>
                <a:lnTo>
                  <a:pt x="35280" y="870076"/>
                </a:lnTo>
                <a:lnTo>
                  <a:pt x="47701" y="824992"/>
                </a:lnTo>
                <a:lnTo>
                  <a:pt x="61874" y="780669"/>
                </a:lnTo>
                <a:lnTo>
                  <a:pt x="77762" y="737107"/>
                </a:lnTo>
                <a:lnTo>
                  <a:pt x="95338" y="694435"/>
                </a:lnTo>
                <a:lnTo>
                  <a:pt x="114554" y="652526"/>
                </a:lnTo>
                <a:lnTo>
                  <a:pt x="135356" y="611631"/>
                </a:lnTo>
                <a:lnTo>
                  <a:pt x="157734" y="571753"/>
                </a:lnTo>
                <a:lnTo>
                  <a:pt x="181622" y="532765"/>
                </a:lnTo>
                <a:lnTo>
                  <a:pt x="206984" y="494792"/>
                </a:lnTo>
                <a:lnTo>
                  <a:pt x="233794" y="457961"/>
                </a:lnTo>
                <a:lnTo>
                  <a:pt x="262001" y="422275"/>
                </a:lnTo>
                <a:lnTo>
                  <a:pt x="291566" y="387730"/>
                </a:lnTo>
                <a:lnTo>
                  <a:pt x="322453" y="354329"/>
                </a:lnTo>
                <a:lnTo>
                  <a:pt x="354609" y="322199"/>
                </a:lnTo>
                <a:lnTo>
                  <a:pt x="388010" y="291337"/>
                </a:lnTo>
                <a:lnTo>
                  <a:pt x="422617" y="261874"/>
                </a:lnTo>
                <a:lnTo>
                  <a:pt x="458368" y="233679"/>
                </a:lnTo>
                <a:lnTo>
                  <a:pt x="495249" y="206882"/>
                </a:lnTo>
                <a:lnTo>
                  <a:pt x="533196" y="181482"/>
                </a:lnTo>
                <a:lnTo>
                  <a:pt x="572185" y="157606"/>
                </a:lnTo>
                <a:lnTo>
                  <a:pt x="612178" y="135254"/>
                </a:lnTo>
                <a:lnTo>
                  <a:pt x="653122" y="114553"/>
                </a:lnTo>
                <a:lnTo>
                  <a:pt x="694994" y="95250"/>
                </a:lnTo>
                <a:lnTo>
                  <a:pt x="737730" y="77724"/>
                </a:lnTo>
                <a:lnTo>
                  <a:pt x="781304" y="61849"/>
                </a:lnTo>
                <a:lnTo>
                  <a:pt x="825690" y="47751"/>
                </a:lnTo>
                <a:lnTo>
                  <a:pt x="870813" y="35305"/>
                </a:lnTo>
                <a:lnTo>
                  <a:pt x="916673" y="24765"/>
                </a:lnTo>
                <a:lnTo>
                  <a:pt x="963231" y="16001"/>
                </a:lnTo>
                <a:lnTo>
                  <a:pt x="1010348" y="9017"/>
                </a:lnTo>
                <a:lnTo>
                  <a:pt x="1058100" y="4064"/>
                </a:lnTo>
                <a:lnTo>
                  <a:pt x="1106487" y="1016"/>
                </a:lnTo>
                <a:lnTo>
                  <a:pt x="1155255" y="0"/>
                </a:lnTo>
                <a:lnTo>
                  <a:pt x="7692834" y="0"/>
                </a:lnTo>
                <a:lnTo>
                  <a:pt x="7741602" y="1016"/>
                </a:lnTo>
                <a:lnTo>
                  <a:pt x="7789989" y="4064"/>
                </a:lnTo>
                <a:lnTo>
                  <a:pt x="7837741" y="9017"/>
                </a:lnTo>
                <a:lnTo>
                  <a:pt x="7884858" y="16001"/>
                </a:lnTo>
                <a:lnTo>
                  <a:pt x="7931467" y="24765"/>
                </a:lnTo>
                <a:lnTo>
                  <a:pt x="7977314" y="35305"/>
                </a:lnTo>
                <a:lnTo>
                  <a:pt x="8022399" y="47751"/>
                </a:lnTo>
                <a:lnTo>
                  <a:pt x="8066849" y="61849"/>
                </a:lnTo>
                <a:lnTo>
                  <a:pt x="8110410" y="77724"/>
                </a:lnTo>
                <a:lnTo>
                  <a:pt x="8153082" y="95250"/>
                </a:lnTo>
                <a:lnTo>
                  <a:pt x="8194992" y="114553"/>
                </a:lnTo>
                <a:lnTo>
                  <a:pt x="8235886" y="135254"/>
                </a:lnTo>
                <a:lnTo>
                  <a:pt x="8275891" y="157606"/>
                </a:lnTo>
                <a:lnTo>
                  <a:pt x="8314880" y="181482"/>
                </a:lnTo>
                <a:lnTo>
                  <a:pt x="8352853" y="206882"/>
                </a:lnTo>
                <a:lnTo>
                  <a:pt x="8389810" y="233679"/>
                </a:lnTo>
                <a:lnTo>
                  <a:pt x="8425497" y="261874"/>
                </a:lnTo>
                <a:lnTo>
                  <a:pt x="8460168" y="291337"/>
                </a:lnTo>
                <a:lnTo>
                  <a:pt x="8493569" y="322199"/>
                </a:lnTo>
                <a:lnTo>
                  <a:pt x="8525700" y="354329"/>
                </a:lnTo>
                <a:lnTo>
                  <a:pt x="8556561" y="387730"/>
                </a:lnTo>
                <a:lnTo>
                  <a:pt x="8586152" y="422275"/>
                </a:lnTo>
                <a:lnTo>
                  <a:pt x="8614346" y="457961"/>
                </a:lnTo>
                <a:lnTo>
                  <a:pt x="8641143" y="494792"/>
                </a:lnTo>
                <a:lnTo>
                  <a:pt x="8666543" y="532765"/>
                </a:lnTo>
                <a:lnTo>
                  <a:pt x="8690419" y="571753"/>
                </a:lnTo>
                <a:lnTo>
                  <a:pt x="8712771" y="611631"/>
                </a:lnTo>
                <a:lnTo>
                  <a:pt x="8733599" y="652526"/>
                </a:lnTo>
                <a:lnTo>
                  <a:pt x="8752776" y="694435"/>
                </a:lnTo>
                <a:lnTo>
                  <a:pt x="8770429" y="737107"/>
                </a:lnTo>
                <a:lnTo>
                  <a:pt x="8786304" y="780669"/>
                </a:lnTo>
                <a:lnTo>
                  <a:pt x="8800401" y="824992"/>
                </a:lnTo>
                <a:lnTo>
                  <a:pt x="8812847" y="870076"/>
                </a:lnTo>
                <a:lnTo>
                  <a:pt x="8823515" y="915924"/>
                </a:lnTo>
                <a:lnTo>
                  <a:pt x="8832278" y="962405"/>
                </a:lnTo>
                <a:lnTo>
                  <a:pt x="8839136" y="1009523"/>
                </a:lnTo>
                <a:lnTo>
                  <a:pt x="8844089" y="1057148"/>
                </a:lnTo>
                <a:lnTo>
                  <a:pt x="8847137" y="1105407"/>
                </a:lnTo>
                <a:lnTo>
                  <a:pt x="8848153" y="1154176"/>
                </a:lnTo>
                <a:lnTo>
                  <a:pt x="8848153" y="5770626"/>
                </a:lnTo>
                <a:lnTo>
                  <a:pt x="8847137" y="5819521"/>
                </a:lnTo>
                <a:lnTo>
                  <a:pt x="8844089" y="5867781"/>
                </a:lnTo>
                <a:lnTo>
                  <a:pt x="8839136" y="5915406"/>
                </a:lnTo>
                <a:lnTo>
                  <a:pt x="8832278" y="5962523"/>
                </a:lnTo>
                <a:lnTo>
                  <a:pt x="8823515" y="6009005"/>
                </a:lnTo>
                <a:lnTo>
                  <a:pt x="8812847" y="6054852"/>
                </a:lnTo>
                <a:lnTo>
                  <a:pt x="8800401" y="6099937"/>
                </a:lnTo>
                <a:lnTo>
                  <a:pt x="8786304" y="6144259"/>
                </a:lnTo>
                <a:lnTo>
                  <a:pt x="8770429" y="6187821"/>
                </a:lnTo>
                <a:lnTo>
                  <a:pt x="8752776" y="6230493"/>
                </a:lnTo>
                <a:lnTo>
                  <a:pt x="8733599" y="6272276"/>
                </a:lnTo>
                <a:lnTo>
                  <a:pt x="8712771" y="6313297"/>
                </a:lnTo>
                <a:lnTo>
                  <a:pt x="8690419" y="6353175"/>
                </a:lnTo>
                <a:lnTo>
                  <a:pt x="8666543" y="6392164"/>
                </a:lnTo>
                <a:lnTo>
                  <a:pt x="8641143" y="6430009"/>
                </a:lnTo>
                <a:lnTo>
                  <a:pt x="8614346" y="6466840"/>
                </a:lnTo>
                <a:lnTo>
                  <a:pt x="8586152" y="6502654"/>
                </a:lnTo>
                <a:lnTo>
                  <a:pt x="8556561" y="6537198"/>
                </a:lnTo>
                <a:lnTo>
                  <a:pt x="8525700" y="6570472"/>
                </a:lnTo>
                <a:lnTo>
                  <a:pt x="8493569" y="6602603"/>
                </a:lnTo>
                <a:lnTo>
                  <a:pt x="8460168" y="6633463"/>
                </a:lnTo>
                <a:lnTo>
                  <a:pt x="8425497" y="6663055"/>
                </a:lnTo>
                <a:lnTo>
                  <a:pt x="8389810" y="6691249"/>
                </a:lnTo>
                <a:lnTo>
                  <a:pt x="8352853" y="6718046"/>
                </a:lnTo>
                <a:lnTo>
                  <a:pt x="8314880" y="6743319"/>
                </a:lnTo>
                <a:lnTo>
                  <a:pt x="8275891" y="6767195"/>
                </a:lnTo>
                <a:lnTo>
                  <a:pt x="8235886" y="6789547"/>
                </a:lnTo>
                <a:lnTo>
                  <a:pt x="8194992" y="6810375"/>
                </a:lnTo>
                <a:lnTo>
                  <a:pt x="8153082" y="6829552"/>
                </a:lnTo>
                <a:lnTo>
                  <a:pt x="8110410" y="6847078"/>
                </a:lnTo>
                <a:lnTo>
                  <a:pt x="8066849" y="6862953"/>
                </a:lnTo>
                <a:lnTo>
                  <a:pt x="8022399" y="6877050"/>
                </a:lnTo>
                <a:lnTo>
                  <a:pt x="7977314" y="6889496"/>
                </a:lnTo>
                <a:lnTo>
                  <a:pt x="7931467" y="6900036"/>
                </a:lnTo>
                <a:lnTo>
                  <a:pt x="7884858" y="6908800"/>
                </a:lnTo>
                <a:lnTo>
                  <a:pt x="7837741" y="6915784"/>
                </a:lnTo>
                <a:lnTo>
                  <a:pt x="7789989" y="6920738"/>
                </a:lnTo>
                <a:lnTo>
                  <a:pt x="7741602" y="6923786"/>
                </a:lnTo>
                <a:lnTo>
                  <a:pt x="7692834" y="6924675"/>
                </a:lnTo>
                <a:lnTo>
                  <a:pt x="1155255" y="6924675"/>
                </a:lnTo>
                <a:lnTo>
                  <a:pt x="1106487" y="6923786"/>
                </a:lnTo>
                <a:lnTo>
                  <a:pt x="1058100" y="6920738"/>
                </a:lnTo>
                <a:lnTo>
                  <a:pt x="1010348" y="6915784"/>
                </a:lnTo>
                <a:lnTo>
                  <a:pt x="963231" y="6908800"/>
                </a:lnTo>
                <a:lnTo>
                  <a:pt x="916673" y="6900036"/>
                </a:lnTo>
                <a:lnTo>
                  <a:pt x="870813" y="6889496"/>
                </a:lnTo>
                <a:lnTo>
                  <a:pt x="825690" y="6877050"/>
                </a:lnTo>
                <a:lnTo>
                  <a:pt x="781304" y="6862953"/>
                </a:lnTo>
                <a:lnTo>
                  <a:pt x="737730" y="6847078"/>
                </a:lnTo>
                <a:lnTo>
                  <a:pt x="694994" y="6829552"/>
                </a:lnTo>
                <a:lnTo>
                  <a:pt x="653122" y="6810375"/>
                </a:lnTo>
                <a:lnTo>
                  <a:pt x="612178" y="6789547"/>
                </a:lnTo>
                <a:lnTo>
                  <a:pt x="572185" y="6767195"/>
                </a:lnTo>
                <a:lnTo>
                  <a:pt x="533196" y="6743319"/>
                </a:lnTo>
                <a:lnTo>
                  <a:pt x="495249" y="6718046"/>
                </a:lnTo>
                <a:lnTo>
                  <a:pt x="458368" y="6691249"/>
                </a:lnTo>
                <a:lnTo>
                  <a:pt x="422617" y="6663055"/>
                </a:lnTo>
                <a:lnTo>
                  <a:pt x="388010" y="6633463"/>
                </a:lnTo>
                <a:lnTo>
                  <a:pt x="354609" y="6602603"/>
                </a:lnTo>
                <a:lnTo>
                  <a:pt x="322453" y="6570472"/>
                </a:lnTo>
                <a:lnTo>
                  <a:pt x="291566" y="6537198"/>
                </a:lnTo>
                <a:lnTo>
                  <a:pt x="262001" y="6502654"/>
                </a:lnTo>
                <a:lnTo>
                  <a:pt x="233794" y="6466840"/>
                </a:lnTo>
                <a:lnTo>
                  <a:pt x="206984" y="6430009"/>
                </a:lnTo>
                <a:lnTo>
                  <a:pt x="181622" y="6392164"/>
                </a:lnTo>
                <a:lnTo>
                  <a:pt x="157734" y="6353175"/>
                </a:lnTo>
                <a:lnTo>
                  <a:pt x="135356" y="6313297"/>
                </a:lnTo>
                <a:lnTo>
                  <a:pt x="114554" y="6272276"/>
                </a:lnTo>
                <a:lnTo>
                  <a:pt x="95338" y="6230493"/>
                </a:lnTo>
                <a:lnTo>
                  <a:pt x="77762" y="6187821"/>
                </a:lnTo>
                <a:lnTo>
                  <a:pt x="61874" y="6144259"/>
                </a:lnTo>
                <a:lnTo>
                  <a:pt x="47701" y="6099937"/>
                </a:lnTo>
                <a:lnTo>
                  <a:pt x="35280" y="6054852"/>
                </a:lnTo>
                <a:lnTo>
                  <a:pt x="24663" y="6009005"/>
                </a:lnTo>
                <a:lnTo>
                  <a:pt x="15900" y="5962523"/>
                </a:lnTo>
                <a:lnTo>
                  <a:pt x="9004" y="5915406"/>
                </a:lnTo>
                <a:lnTo>
                  <a:pt x="4025" y="5867781"/>
                </a:lnTo>
                <a:lnTo>
                  <a:pt x="1015" y="5819521"/>
                </a:lnTo>
                <a:lnTo>
                  <a:pt x="0" y="5770626"/>
                </a:lnTo>
                <a:lnTo>
                  <a:pt x="0" y="1154176"/>
                </a:lnTo>
                <a:close/>
              </a:path>
            </a:pathLst>
          </a:custGeom>
          <a:ln w="9525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966325" y="1962531"/>
            <a:ext cx="7184390" cy="552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15475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0"/>
                </a:moveTo>
                <a:lnTo>
                  <a:pt x="0" y="10782"/>
                </a:lnTo>
                <a:lnTo>
                  <a:pt x="18288000" y="37693"/>
                </a:lnTo>
                <a:lnTo>
                  <a:pt x="18288000" y="26911"/>
                </a:lnTo>
                <a:lnTo>
                  <a:pt x="0" y="0"/>
                </a:lnTo>
                <a:close/>
              </a:path>
            </a:pathLst>
          </a:custGeom>
          <a:solidFill>
            <a:srgbClr val="2C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200150"/>
            <a:ext cx="18288000" cy="142240"/>
          </a:xfrm>
          <a:custGeom>
            <a:avLst/>
            <a:gdLst/>
            <a:ahLst/>
            <a:cxnLst/>
            <a:rect l="l" t="t" r="r" b="b"/>
            <a:pathLst>
              <a:path w="18288000" h="142240">
                <a:moveTo>
                  <a:pt x="0" y="0"/>
                </a:moveTo>
                <a:lnTo>
                  <a:pt x="0" y="49149"/>
                </a:lnTo>
                <a:lnTo>
                  <a:pt x="18288000" y="142240"/>
                </a:lnTo>
                <a:lnTo>
                  <a:pt x="18288000" y="93091"/>
                </a:lnTo>
                <a:lnTo>
                  <a:pt x="0" y="0"/>
                </a:lnTo>
                <a:close/>
              </a:path>
            </a:pathLst>
          </a:custGeom>
          <a:solidFill>
            <a:srgbClr val="2C75B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50" y="8553450"/>
            <a:ext cx="5753100" cy="1552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630" y="2435542"/>
            <a:ext cx="4852035" cy="1242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282794" y="10028556"/>
            <a:ext cx="146050" cy="29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6824960" y="9570722"/>
            <a:ext cx="295909" cy="405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6868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4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1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553450"/>
            <a:ext cx="18288000" cy="1552575"/>
            <a:chOff x="0" y="8553450"/>
            <a:chExt cx="18288000" cy="1552575"/>
          </a:xfrm>
        </p:grpSpPr>
        <p:sp>
          <p:nvSpPr>
            <p:cNvPr id="3" name="object 3"/>
            <p:cNvSpPr/>
            <p:nvPr/>
          </p:nvSpPr>
          <p:spPr>
            <a:xfrm>
              <a:off x="0" y="9515475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0" y="0"/>
                  </a:moveTo>
                  <a:lnTo>
                    <a:pt x="0" y="10782"/>
                  </a:lnTo>
                  <a:lnTo>
                    <a:pt x="18288000" y="37693"/>
                  </a:lnTo>
                  <a:lnTo>
                    <a:pt x="18288000" y="26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7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" y="8553450"/>
              <a:ext cx="5753100" cy="1552575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" y="371475"/>
            <a:ext cx="1666875" cy="1752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40075" y="371475"/>
            <a:ext cx="2409825" cy="1733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37005" y="9802812"/>
            <a:ext cx="341439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2101" y="9556750"/>
            <a:ext cx="34442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Department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52011" y="9556750"/>
            <a:ext cx="1600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868686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76550" y="1333500"/>
            <a:ext cx="12687300" cy="3238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48154" y="515597"/>
            <a:ext cx="14824075" cy="725741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4996180">
              <a:lnSpc>
                <a:spcPct val="100000"/>
              </a:lnSpc>
              <a:spcBef>
                <a:spcPts val="1010"/>
              </a:spcBef>
            </a:pPr>
            <a:r>
              <a:rPr dirty="0" sz="2750" spc="-10" i="1">
                <a:solidFill>
                  <a:srgbClr val="001F5F"/>
                </a:solidFill>
                <a:latin typeface="Times New Roman"/>
                <a:cs typeface="Times New Roman"/>
              </a:rPr>
              <a:t>Dr.</a:t>
            </a:r>
            <a:r>
              <a:rPr dirty="0" sz="2750" spc="-55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750" i="1">
                <a:solidFill>
                  <a:srgbClr val="001F5F"/>
                </a:solidFill>
                <a:latin typeface="Times New Roman"/>
                <a:cs typeface="Times New Roman"/>
              </a:rPr>
              <a:t>D.</a:t>
            </a:r>
            <a:r>
              <a:rPr dirty="0" sz="2750" spc="-50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750" i="1">
                <a:solidFill>
                  <a:srgbClr val="001F5F"/>
                </a:solidFill>
                <a:latin typeface="Times New Roman"/>
                <a:cs typeface="Times New Roman"/>
              </a:rPr>
              <a:t>Y.</a:t>
            </a:r>
            <a:r>
              <a:rPr dirty="0" sz="2750" spc="-80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750" i="1">
                <a:solidFill>
                  <a:srgbClr val="001F5F"/>
                </a:solidFill>
                <a:latin typeface="Times New Roman"/>
                <a:cs typeface="Times New Roman"/>
              </a:rPr>
              <a:t>Patil</a:t>
            </a:r>
            <a:r>
              <a:rPr dirty="0" sz="2750" spc="-15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750" i="1">
                <a:solidFill>
                  <a:srgbClr val="001F5F"/>
                </a:solidFill>
                <a:latin typeface="Times New Roman"/>
                <a:cs typeface="Times New Roman"/>
              </a:rPr>
              <a:t>Educational</a:t>
            </a:r>
            <a:r>
              <a:rPr dirty="0" sz="2750" spc="-80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750" spc="-10" i="1">
                <a:solidFill>
                  <a:srgbClr val="001F5F"/>
                </a:solidFill>
                <a:latin typeface="Times New Roman"/>
                <a:cs typeface="Times New Roman"/>
              </a:rPr>
              <a:t>Federation’s</a:t>
            </a:r>
            <a:endParaRPr sz="2750">
              <a:latin typeface="Times New Roman"/>
              <a:cs typeface="Times New Roman"/>
            </a:endParaRPr>
          </a:p>
          <a:p>
            <a:pPr algn="ctr" marL="95250">
              <a:lnSpc>
                <a:spcPct val="100000"/>
              </a:lnSpc>
              <a:spcBef>
                <a:spcPts val="1060"/>
              </a:spcBef>
            </a:pPr>
            <a:r>
              <a:rPr dirty="0" sz="3200" b="1">
                <a:solidFill>
                  <a:srgbClr val="001F5F"/>
                </a:solidFill>
                <a:latin typeface="Times New Roman"/>
                <a:cs typeface="Times New Roman"/>
              </a:rPr>
              <a:t>DR.</a:t>
            </a:r>
            <a:r>
              <a:rPr dirty="0" sz="3200" spc="59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1F5F"/>
                </a:solidFill>
                <a:latin typeface="Times New Roman"/>
                <a:cs typeface="Times New Roman"/>
              </a:rPr>
              <a:t>D.</a:t>
            </a:r>
            <a:r>
              <a:rPr dirty="0" sz="3200" spc="-2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1F5F"/>
                </a:solidFill>
                <a:latin typeface="Times New Roman"/>
                <a:cs typeface="Times New Roman"/>
              </a:rPr>
              <a:t>Y.</a:t>
            </a:r>
            <a:r>
              <a:rPr dirty="0" sz="3200" spc="69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spc="-105" b="1">
                <a:solidFill>
                  <a:srgbClr val="001F5F"/>
                </a:solidFill>
                <a:latin typeface="Times New Roman"/>
                <a:cs typeface="Times New Roman"/>
              </a:rPr>
              <a:t>PATIL</a:t>
            </a:r>
            <a:r>
              <a:rPr dirty="0" sz="3200" spc="-27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1F5F"/>
                </a:solidFill>
                <a:latin typeface="Times New Roman"/>
                <a:cs typeface="Times New Roman"/>
              </a:rPr>
              <a:t>COLLEGE</a:t>
            </a:r>
            <a:r>
              <a:rPr dirty="0" sz="3200" spc="-114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dirty="0" sz="3200" spc="-19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spc="-40" b="1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r>
              <a:rPr dirty="0" sz="3200" spc="-2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dirty="0" sz="3200" spc="64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1F5F"/>
                </a:solidFill>
                <a:latin typeface="Times New Roman"/>
                <a:cs typeface="Times New Roman"/>
              </a:rPr>
              <a:t>INNOVATION</a:t>
            </a:r>
            <a:endParaRPr sz="3200">
              <a:latin typeface="Times New Roman"/>
              <a:cs typeface="Times New Roman"/>
            </a:endParaRPr>
          </a:p>
          <a:p>
            <a:pPr marL="2673350" marR="2738755" indent="1421765">
              <a:lnSpc>
                <a:spcPct val="114700"/>
              </a:lnSpc>
              <a:spcBef>
                <a:spcPts val="1195"/>
              </a:spcBef>
            </a:pPr>
            <a:r>
              <a:rPr dirty="0" sz="2400" spc="-20" b="1">
                <a:latin typeface="Times New Roman"/>
                <a:cs typeface="Times New Roman"/>
              </a:rPr>
              <a:t>Approved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by</a:t>
            </a:r>
            <a:r>
              <a:rPr dirty="0" sz="2400" spc="-1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AICTE,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Recognized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Govt.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Maharashtra, </a:t>
            </a:r>
            <a:r>
              <a:rPr dirty="0" sz="2400" spc="-10" b="1">
                <a:solidFill>
                  <a:srgbClr val="C00000"/>
                </a:solidFill>
                <a:latin typeface="Times New Roman"/>
                <a:cs typeface="Times New Roman"/>
              </a:rPr>
              <a:t>(An</a:t>
            </a:r>
            <a:r>
              <a:rPr dirty="0" sz="2400" spc="-19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Times New Roman"/>
                <a:cs typeface="Times New Roman"/>
              </a:rPr>
              <a:t>Autonomous</a:t>
            </a:r>
            <a:r>
              <a:rPr dirty="0" sz="2400" spc="-1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C00000"/>
                </a:solidFill>
                <a:latin typeface="Times New Roman"/>
                <a:cs typeface="Times New Roman"/>
              </a:rPr>
              <a:t>Institute</a:t>
            </a:r>
            <a:r>
              <a:rPr dirty="0" sz="2400" spc="-1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Affiliated</a:t>
            </a:r>
            <a:r>
              <a:rPr dirty="0" sz="2400" spc="-5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dirty="0" sz="2400" spc="-8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Savitribai</a:t>
            </a:r>
            <a:r>
              <a:rPr dirty="0" sz="2400" spc="-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Phule</a:t>
            </a:r>
            <a:r>
              <a:rPr dirty="0" sz="2400" spc="-6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C00000"/>
                </a:solidFill>
                <a:latin typeface="Times New Roman"/>
                <a:cs typeface="Times New Roman"/>
              </a:rPr>
              <a:t>Pune</a:t>
            </a:r>
            <a:r>
              <a:rPr dirty="0" sz="2400" spc="-5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Times New Roman"/>
                <a:cs typeface="Times New Roman"/>
              </a:rPr>
              <a:t>University)</a:t>
            </a:r>
            <a:endParaRPr sz="2400">
              <a:latin typeface="Times New Roman"/>
              <a:cs typeface="Times New Roman"/>
            </a:endParaRPr>
          </a:p>
          <a:p>
            <a:pPr marL="4944745">
              <a:lnSpc>
                <a:spcPts val="2865"/>
              </a:lnSpc>
              <a:spcBef>
                <a:spcPts val="200"/>
              </a:spcBef>
            </a:pP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Accredited</a:t>
            </a:r>
            <a:r>
              <a:rPr dirty="0" sz="2400" spc="-6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dirty="0" sz="2400" spc="-114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NAAC</a:t>
            </a:r>
            <a:r>
              <a:rPr dirty="0" sz="2400" spc="-1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with</a:t>
            </a:r>
            <a:r>
              <a:rPr dirty="0" sz="2400" spc="-1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“A”</a:t>
            </a:r>
            <a:r>
              <a:rPr dirty="0" sz="2400" spc="-10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Grade</a:t>
            </a:r>
            <a:endParaRPr sz="2400">
              <a:latin typeface="Times New Roman"/>
              <a:cs typeface="Times New Roman"/>
            </a:endParaRPr>
          </a:p>
          <a:p>
            <a:pPr algn="ctr" marL="99060">
              <a:lnSpc>
                <a:spcPts val="4305"/>
              </a:lnSpc>
            </a:pP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Department</a:t>
            </a:r>
            <a:r>
              <a:rPr dirty="0" sz="3600" spc="-14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dirty="0" sz="3600" spc="-1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Computer</a:t>
            </a:r>
            <a:r>
              <a:rPr dirty="0" sz="3600" spc="-1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endParaRPr sz="36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1085"/>
              </a:spcBef>
            </a:pPr>
            <a:r>
              <a:rPr dirty="0" sz="3600" spc="-10" b="1" i="1">
                <a:solidFill>
                  <a:srgbClr val="001F5F"/>
                </a:solidFill>
                <a:latin typeface="Times New Roman"/>
                <a:cs typeface="Times New Roman"/>
              </a:rPr>
              <a:t>Topic:</a:t>
            </a:r>
            <a:r>
              <a:rPr dirty="0" sz="3600" spc="-145" b="1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001F5F"/>
                </a:solidFill>
                <a:latin typeface="Times New Roman"/>
                <a:cs typeface="Times New Roman"/>
              </a:rPr>
              <a:t>quantum</a:t>
            </a:r>
            <a:r>
              <a:rPr dirty="0" sz="3600" spc="-130" b="1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001F5F"/>
                </a:solidFill>
                <a:latin typeface="Times New Roman"/>
                <a:cs typeface="Times New Roman"/>
              </a:rPr>
              <a:t>vs</a:t>
            </a:r>
            <a:r>
              <a:rPr dirty="0" sz="3600" spc="-150" b="1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 i="1">
                <a:solidFill>
                  <a:srgbClr val="001F5F"/>
                </a:solidFill>
                <a:latin typeface="Times New Roman"/>
                <a:cs typeface="Times New Roman"/>
              </a:rPr>
              <a:t>classical</a:t>
            </a:r>
            <a:r>
              <a:rPr dirty="0" sz="3600" spc="-170" b="1" i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 i="1">
                <a:solidFill>
                  <a:srgbClr val="001F5F"/>
                </a:solidFill>
                <a:latin typeface="Times New Roman"/>
                <a:cs typeface="Times New Roman"/>
              </a:rPr>
              <a:t>microprocessor</a:t>
            </a:r>
            <a:endParaRPr sz="3600">
              <a:latin typeface="Times New Roman"/>
              <a:cs typeface="Times New Roman"/>
            </a:endParaRPr>
          </a:p>
          <a:p>
            <a:pPr algn="ctr" marL="12700" marR="5080">
              <a:lnSpc>
                <a:spcPts val="5560"/>
              </a:lnSpc>
              <a:spcBef>
                <a:spcPts val="90"/>
              </a:spcBef>
            </a:pP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Name:</a:t>
            </a:r>
            <a:r>
              <a:rPr dirty="0" sz="36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1.neha</a:t>
            </a:r>
            <a:r>
              <a:rPr dirty="0" sz="3600" spc="-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borkar</a:t>
            </a:r>
            <a:r>
              <a:rPr dirty="0" sz="3600" spc="-1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2.</a:t>
            </a:r>
            <a:r>
              <a:rPr dirty="0" sz="3600" spc="-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mayuri</a:t>
            </a:r>
            <a:r>
              <a:rPr dirty="0" sz="3600" spc="-4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mundkar</a:t>
            </a:r>
            <a:r>
              <a:rPr dirty="0" sz="3600" spc="-1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3.</a:t>
            </a:r>
            <a:r>
              <a:rPr dirty="0" sz="3600" spc="-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janvhi</a:t>
            </a:r>
            <a:r>
              <a:rPr dirty="0" sz="3600" spc="3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patil</a:t>
            </a:r>
            <a:r>
              <a:rPr dirty="0" sz="3600" spc="-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,</a:t>
            </a:r>
            <a:r>
              <a:rPr dirty="0" sz="3600" spc="-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4.</a:t>
            </a:r>
            <a:r>
              <a:rPr dirty="0" sz="36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vedika</a:t>
            </a:r>
            <a:r>
              <a:rPr dirty="0" sz="3600" spc="-10" b="1">
                <a:solidFill>
                  <a:srgbClr val="001F5F"/>
                </a:solidFill>
                <a:latin typeface="Times New Roman"/>
                <a:cs typeface="Times New Roman"/>
              </a:rPr>
              <a:t> karlekar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Class:</a:t>
            </a:r>
            <a:r>
              <a:rPr dirty="0" sz="3600" spc="-7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Second</a:t>
            </a:r>
            <a:r>
              <a:rPr dirty="0" sz="3600" spc="-6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20" b="1">
                <a:solidFill>
                  <a:srgbClr val="001F5F"/>
                </a:solidFill>
                <a:latin typeface="Times New Roman"/>
                <a:cs typeface="Times New Roman"/>
              </a:rPr>
              <a:t>year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Roll</a:t>
            </a:r>
            <a:r>
              <a:rPr dirty="0" sz="3600" spc="-4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no</a:t>
            </a:r>
            <a:r>
              <a:rPr dirty="0" sz="3600" spc="-1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:12234,</a:t>
            </a:r>
            <a:r>
              <a:rPr dirty="0" sz="3600" spc="-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12242,12255,</a:t>
            </a:r>
            <a:r>
              <a:rPr dirty="0" sz="3600" spc="-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001F5F"/>
                </a:solidFill>
                <a:latin typeface="Times New Roman"/>
                <a:cs typeface="Times New Roman"/>
              </a:rPr>
              <a:t>12210</a:t>
            </a:r>
            <a:endParaRPr sz="3600">
              <a:latin typeface="Times New Roman"/>
              <a:cs typeface="Times New Roman"/>
            </a:endParaRPr>
          </a:p>
          <a:p>
            <a:pPr algn="ctr" marL="8255">
              <a:lnSpc>
                <a:spcPct val="100000"/>
              </a:lnSpc>
              <a:spcBef>
                <a:spcPts val="1085"/>
              </a:spcBef>
            </a:pP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Div:</a:t>
            </a:r>
            <a:r>
              <a:rPr dirty="0" sz="3600" spc="-2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50" b="1">
                <a:solidFill>
                  <a:srgbClr val="001F5F"/>
                </a:solidFill>
                <a:latin typeface="Times New Roman"/>
                <a:cs typeface="Times New Roman"/>
              </a:rPr>
              <a:t>B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Subject:</a:t>
            </a:r>
            <a:r>
              <a:rPr dirty="0" sz="3600" spc="-14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35" b="1">
                <a:solidFill>
                  <a:srgbClr val="001F5F"/>
                </a:solidFill>
                <a:latin typeface="Times New Roman"/>
                <a:cs typeface="Times New Roman"/>
              </a:rPr>
              <a:t>Computer</a:t>
            </a:r>
            <a:r>
              <a:rPr dirty="0" sz="3600" spc="-24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Architecture</a:t>
            </a:r>
            <a:r>
              <a:rPr dirty="0" sz="3600" spc="-11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dirty="0" sz="3600" spc="-7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001F5F"/>
                </a:solidFill>
                <a:latin typeface="Times New Roman"/>
                <a:cs typeface="Times New Roman"/>
              </a:rPr>
              <a:t>Organization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7684" y="1478720"/>
            <a:ext cx="14768830" cy="630809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64490" indent="-342900">
              <a:lnSpc>
                <a:spcPct val="100000"/>
              </a:lnSpc>
              <a:spcBef>
                <a:spcPts val="965"/>
              </a:spcBef>
              <a:buClr>
                <a:srgbClr val="FF0000"/>
              </a:buClr>
              <a:buFont typeface="Arial MT"/>
              <a:buChar char="•"/>
              <a:tabLst>
                <a:tab pos="364490" algn="l"/>
              </a:tabLst>
            </a:pP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Working</a:t>
            </a:r>
            <a:r>
              <a:rPr dirty="0" sz="4400" spc="-18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4400" spc="-1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4400" spc="-1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Classical</a:t>
            </a:r>
            <a:r>
              <a:rPr dirty="0" sz="4400" spc="-1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FF0000"/>
                </a:solidFill>
                <a:latin typeface="Calibri"/>
                <a:cs typeface="Calibri"/>
              </a:rPr>
              <a:t>Microprocessor</a:t>
            </a:r>
            <a:endParaRPr sz="4400">
              <a:latin typeface="Calibri"/>
              <a:cs typeface="Calibri"/>
            </a:endParaRPr>
          </a:p>
          <a:p>
            <a:pPr marL="363855" marR="5080" indent="-342900">
              <a:lnSpc>
                <a:spcPct val="100899"/>
              </a:lnSpc>
              <a:spcBef>
                <a:spcPts val="830"/>
              </a:spcBef>
              <a:buFont typeface="Arial MT"/>
              <a:buChar char="•"/>
              <a:tabLst>
                <a:tab pos="363855" algn="l"/>
              </a:tabLst>
            </a:pPr>
            <a:r>
              <a:rPr dirty="0" sz="4400">
                <a:latin typeface="Calibri"/>
                <a:cs typeface="Calibri"/>
              </a:rPr>
              <a:t>A</a:t>
            </a:r>
            <a:r>
              <a:rPr dirty="0" sz="4400" spc="-14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classical</a:t>
            </a:r>
            <a:r>
              <a:rPr dirty="0" sz="4400" spc="-10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microprocessor</a:t>
            </a:r>
            <a:r>
              <a:rPr dirty="0" sz="4400" spc="-13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works</a:t>
            </a:r>
            <a:r>
              <a:rPr dirty="0" sz="4400" spc="-12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using</a:t>
            </a:r>
            <a:r>
              <a:rPr dirty="0" sz="4400" spc="-155"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001F5F"/>
                </a:solidFill>
                <a:latin typeface="Calibri"/>
                <a:cs typeface="Calibri"/>
              </a:rPr>
              <a:t>binary</a:t>
            </a:r>
            <a:r>
              <a:rPr dirty="0" sz="4400" spc="-6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001F5F"/>
                </a:solidFill>
                <a:latin typeface="Calibri"/>
                <a:cs typeface="Calibri"/>
              </a:rPr>
              <a:t>bits</a:t>
            </a:r>
            <a:r>
              <a:rPr dirty="0" sz="4400" spc="-15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001F5F"/>
                </a:solidFill>
                <a:latin typeface="Calibri"/>
                <a:cs typeface="Calibri"/>
              </a:rPr>
              <a:t>(0</a:t>
            </a:r>
            <a:r>
              <a:rPr dirty="0" sz="4400" spc="-1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dirty="0" sz="4400" spc="-1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r>
              <a:rPr dirty="0" sz="4400" spc="-1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and </a:t>
            </a:r>
            <a:r>
              <a:rPr dirty="0" sz="4400">
                <a:latin typeface="Calibri"/>
                <a:cs typeface="Calibri"/>
              </a:rPr>
              <a:t>follows</a:t>
            </a:r>
            <a:r>
              <a:rPr dirty="0" sz="4400" spc="-1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95">
                <a:latin typeface="Calibri"/>
                <a:cs typeface="Calibri"/>
              </a:rPr>
              <a:t> </a:t>
            </a:r>
            <a:r>
              <a:rPr dirty="0" sz="4400" spc="-70" b="1">
                <a:solidFill>
                  <a:srgbClr val="001F5F"/>
                </a:solidFill>
                <a:latin typeface="Calibri"/>
                <a:cs typeface="Calibri"/>
              </a:rPr>
              <a:t>fetch–</a:t>
            </a:r>
            <a:r>
              <a:rPr dirty="0" sz="4400" spc="-55" b="1">
                <a:solidFill>
                  <a:srgbClr val="001F5F"/>
                </a:solidFill>
                <a:latin typeface="Calibri"/>
                <a:cs typeface="Calibri"/>
              </a:rPr>
              <a:t>decode</a:t>
            </a:r>
            <a:r>
              <a:rPr dirty="0" sz="4400" spc="-55" b="1">
                <a:latin typeface="Calibri"/>
                <a:cs typeface="Calibri"/>
              </a:rPr>
              <a:t>–</a:t>
            </a:r>
            <a:r>
              <a:rPr dirty="0" sz="4400" spc="-20" b="1">
                <a:solidFill>
                  <a:srgbClr val="001F5F"/>
                </a:solidFill>
                <a:latin typeface="Calibri"/>
                <a:cs typeface="Calibri"/>
              </a:rPr>
              <a:t>execute</a:t>
            </a:r>
            <a:r>
              <a:rPr dirty="0" sz="4400" spc="-16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001F5F"/>
                </a:solidFill>
                <a:latin typeface="Calibri"/>
                <a:cs typeface="Calibri"/>
              </a:rPr>
              <a:t>cycle</a:t>
            </a:r>
            <a:r>
              <a:rPr dirty="0" sz="4400" spc="-1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endParaRPr sz="4400">
              <a:latin typeface="Calibri"/>
              <a:cs typeface="Calibri"/>
            </a:endParaRPr>
          </a:p>
          <a:p>
            <a:pPr marL="452120" indent="-438784">
              <a:lnSpc>
                <a:spcPct val="100000"/>
              </a:lnSpc>
              <a:spcBef>
                <a:spcPts val="1175"/>
              </a:spcBef>
              <a:buSzPct val="96590"/>
              <a:buAutoNum type="arabicPeriod"/>
              <a:tabLst>
                <a:tab pos="452120" algn="l"/>
              </a:tabLst>
            </a:pPr>
            <a:r>
              <a:rPr dirty="0" sz="4400" b="1">
                <a:latin typeface="Calibri"/>
                <a:cs typeface="Calibri"/>
              </a:rPr>
              <a:t>Fetch:</a:t>
            </a:r>
            <a:r>
              <a:rPr dirty="0" sz="4400" spc="-185" b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It</a:t>
            </a:r>
            <a:r>
              <a:rPr dirty="0" sz="4400" spc="-16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fetches</a:t>
            </a:r>
            <a:r>
              <a:rPr dirty="0" sz="4400" spc="-2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an</a:t>
            </a:r>
            <a:r>
              <a:rPr dirty="0" sz="4400" spc="-110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instruction</a:t>
            </a:r>
            <a:r>
              <a:rPr dirty="0" sz="4400" spc="-16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from</a:t>
            </a:r>
            <a:r>
              <a:rPr dirty="0" sz="4400" spc="-190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memory.</a:t>
            </a:r>
            <a:endParaRPr sz="4400">
              <a:latin typeface="Calibri"/>
              <a:cs typeface="Calibri"/>
            </a:endParaRPr>
          </a:p>
          <a:p>
            <a:pPr marL="452755" indent="-440055">
              <a:lnSpc>
                <a:spcPct val="100000"/>
              </a:lnSpc>
              <a:spcBef>
                <a:spcPts val="1100"/>
              </a:spcBef>
              <a:buSzPct val="96590"/>
              <a:buAutoNum type="arabicPeriod"/>
              <a:tabLst>
                <a:tab pos="452755" algn="l"/>
              </a:tabLst>
            </a:pPr>
            <a:r>
              <a:rPr dirty="0" sz="4400" b="1">
                <a:latin typeface="Calibri"/>
                <a:cs typeface="Calibri"/>
              </a:rPr>
              <a:t>Decode:</a:t>
            </a:r>
            <a:r>
              <a:rPr dirty="0" sz="4400" spc="-130" b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9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Control</a:t>
            </a:r>
            <a:r>
              <a:rPr dirty="0" sz="4400" spc="-9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Unit</a:t>
            </a:r>
            <a:r>
              <a:rPr dirty="0" sz="4400" spc="-12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decodes</a:t>
            </a:r>
            <a:r>
              <a:rPr dirty="0" sz="4400" spc="-1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8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instruction.</a:t>
            </a:r>
            <a:endParaRPr sz="4400">
              <a:latin typeface="Calibri"/>
              <a:cs typeface="Calibri"/>
            </a:endParaRPr>
          </a:p>
          <a:p>
            <a:pPr marL="452120" indent="-438784">
              <a:lnSpc>
                <a:spcPct val="100000"/>
              </a:lnSpc>
              <a:spcBef>
                <a:spcPts val="1025"/>
              </a:spcBef>
              <a:buSzPct val="96590"/>
              <a:buAutoNum type="arabicPeriod"/>
              <a:tabLst>
                <a:tab pos="452120" algn="l"/>
              </a:tabLst>
            </a:pPr>
            <a:r>
              <a:rPr dirty="0" sz="4400" spc="-10" b="1">
                <a:latin typeface="Calibri"/>
                <a:cs typeface="Calibri"/>
              </a:rPr>
              <a:t>Execute:</a:t>
            </a:r>
            <a:r>
              <a:rPr dirty="0" sz="4400" spc="-150" b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2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ALU</a:t>
            </a:r>
            <a:r>
              <a:rPr dirty="0" sz="4400" spc="-19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performs</a:t>
            </a:r>
            <a:r>
              <a:rPr dirty="0" sz="4400" spc="-20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24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required</a:t>
            </a:r>
            <a:r>
              <a:rPr dirty="0" sz="4400" spc="-204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operation.</a:t>
            </a:r>
            <a:endParaRPr sz="4400">
              <a:latin typeface="Calibri"/>
              <a:cs typeface="Calibri"/>
            </a:endParaRPr>
          </a:p>
          <a:p>
            <a:pPr marL="452755" indent="-439420">
              <a:lnSpc>
                <a:spcPct val="100000"/>
              </a:lnSpc>
              <a:spcBef>
                <a:spcPts val="1105"/>
              </a:spcBef>
              <a:buSzPct val="96590"/>
              <a:buAutoNum type="arabicPeriod"/>
              <a:tabLst>
                <a:tab pos="452755" algn="l"/>
              </a:tabLst>
            </a:pPr>
            <a:r>
              <a:rPr dirty="0" sz="4400" b="1">
                <a:latin typeface="Calibri"/>
                <a:cs typeface="Calibri"/>
              </a:rPr>
              <a:t>Store:</a:t>
            </a:r>
            <a:r>
              <a:rPr dirty="0" sz="4400" spc="-155" b="1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9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result</a:t>
            </a:r>
            <a:r>
              <a:rPr dirty="0" sz="4400" spc="-12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is</a:t>
            </a:r>
            <a:r>
              <a:rPr dirty="0" sz="4400" spc="-1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stored</a:t>
            </a:r>
            <a:r>
              <a:rPr dirty="0" sz="4400" spc="-5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in</a:t>
            </a:r>
            <a:r>
              <a:rPr dirty="0" sz="4400" spc="-17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a</a:t>
            </a:r>
            <a:r>
              <a:rPr dirty="0" sz="4400" spc="-8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register</a:t>
            </a:r>
            <a:r>
              <a:rPr dirty="0" sz="4400" spc="-13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or</a:t>
            </a:r>
            <a:r>
              <a:rPr dirty="0" sz="4400" spc="-110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memory.</a:t>
            </a:r>
            <a:endParaRPr sz="4400">
              <a:latin typeface="Calibri"/>
              <a:cs typeface="Calibri"/>
            </a:endParaRPr>
          </a:p>
          <a:p>
            <a:pPr marL="443865" indent="-430530">
              <a:lnSpc>
                <a:spcPct val="100000"/>
              </a:lnSpc>
              <a:spcBef>
                <a:spcPts val="1025"/>
              </a:spcBef>
              <a:buSzPct val="96590"/>
              <a:buAutoNum type="arabicPeriod"/>
              <a:tabLst>
                <a:tab pos="443865" algn="l"/>
              </a:tabLst>
            </a:pPr>
            <a:r>
              <a:rPr dirty="0" sz="4400">
                <a:latin typeface="Calibri"/>
                <a:cs typeface="Calibri"/>
              </a:rPr>
              <a:t>This</a:t>
            </a:r>
            <a:r>
              <a:rPr dirty="0" sz="4400" spc="-20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cycle</a:t>
            </a:r>
            <a:r>
              <a:rPr dirty="0" sz="4400" spc="-175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repeats</a:t>
            </a:r>
            <a:r>
              <a:rPr dirty="0" sz="4400" spc="-21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continuously</a:t>
            </a:r>
            <a:r>
              <a:rPr dirty="0" sz="4400" spc="-204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to</a:t>
            </a:r>
            <a:r>
              <a:rPr dirty="0" sz="4400" spc="-204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execute</a:t>
            </a:r>
            <a:r>
              <a:rPr dirty="0" sz="4400" spc="-150">
                <a:latin typeface="Calibri"/>
                <a:cs typeface="Calibri"/>
              </a:rPr>
              <a:t> </a:t>
            </a:r>
            <a:r>
              <a:rPr dirty="0" sz="4400">
                <a:latin typeface="Calibri"/>
                <a:cs typeface="Calibri"/>
              </a:rPr>
              <a:t>the</a:t>
            </a:r>
            <a:r>
              <a:rPr dirty="0" sz="4400" spc="-175">
                <a:latin typeface="Calibri"/>
                <a:cs typeface="Calibri"/>
              </a:rPr>
              <a:t> </a:t>
            </a:r>
            <a:r>
              <a:rPr dirty="0" sz="4400" spc="-10">
                <a:latin typeface="Calibri"/>
                <a:cs typeface="Calibri"/>
              </a:rPr>
              <a:t>program.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5" name="object 5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6575" y="1466787"/>
            <a:ext cx="15013305" cy="660400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Applications</a:t>
            </a:r>
            <a:r>
              <a:rPr dirty="0" sz="3950" spc="-1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395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Classical</a:t>
            </a:r>
            <a:r>
              <a:rPr dirty="0" sz="3950" spc="-6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spc="-10" b="1">
                <a:solidFill>
                  <a:srgbClr val="001F5F"/>
                </a:solidFill>
                <a:latin typeface="Calibri"/>
                <a:cs typeface="Calibri"/>
              </a:rPr>
              <a:t>Microprocessor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Computers</a:t>
            </a:r>
            <a:r>
              <a:rPr dirty="0" sz="3950" spc="-70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and</a:t>
            </a:r>
            <a:r>
              <a:rPr dirty="0" sz="3950" spc="-15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laptops</a:t>
            </a:r>
            <a:r>
              <a:rPr dirty="0" sz="3950" spc="-55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7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processing</a:t>
            </a:r>
            <a:r>
              <a:rPr dirty="0" sz="3950" spc="-10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data</a:t>
            </a:r>
            <a:r>
              <a:rPr dirty="0" sz="3950" spc="-6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6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running</a:t>
            </a:r>
            <a:r>
              <a:rPr dirty="0" sz="3950" spc="-50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software.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Embedded</a:t>
            </a:r>
            <a:r>
              <a:rPr dirty="0" sz="3950" spc="-60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systems</a:t>
            </a:r>
            <a:r>
              <a:rPr dirty="0" sz="3950" spc="-95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5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used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in</a:t>
            </a:r>
            <a:r>
              <a:rPr dirty="0" sz="3950" spc="-3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appliances,</a:t>
            </a:r>
            <a:r>
              <a:rPr dirty="0" sz="3950" spc="-6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machines,</a:t>
            </a:r>
            <a:r>
              <a:rPr dirty="0" sz="3950" spc="-1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40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controllers.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Automobiles</a:t>
            </a:r>
            <a:r>
              <a:rPr dirty="0" sz="3950" spc="-45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engine</a:t>
            </a:r>
            <a:r>
              <a:rPr dirty="0" sz="3950" spc="-14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control,</a:t>
            </a:r>
            <a:r>
              <a:rPr dirty="0" sz="3950" spc="-11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sensors,</a:t>
            </a:r>
            <a:r>
              <a:rPr dirty="0" sz="3950" spc="-1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7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safety</a:t>
            </a:r>
            <a:r>
              <a:rPr dirty="0" sz="3950" spc="-10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systems.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Industrial</a:t>
            </a:r>
            <a:r>
              <a:rPr dirty="0" sz="3950" spc="-60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automation</a:t>
            </a:r>
            <a:r>
              <a:rPr dirty="0" sz="3950" spc="-60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6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controlling</a:t>
            </a:r>
            <a:r>
              <a:rPr dirty="0" sz="3950" spc="-4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machines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5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production</a:t>
            </a:r>
            <a:r>
              <a:rPr dirty="0" sz="3950" spc="-40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systems.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Medical</a:t>
            </a:r>
            <a:r>
              <a:rPr dirty="0" sz="3950" spc="-85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equipment</a:t>
            </a:r>
            <a:r>
              <a:rPr dirty="0" sz="3950" spc="-30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7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monitoring</a:t>
            </a:r>
            <a:r>
              <a:rPr dirty="0" sz="3950" spc="-3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6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controlling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medical</a:t>
            </a:r>
            <a:r>
              <a:rPr dirty="0" sz="3950" spc="-114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devices.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Communication</a:t>
            </a:r>
            <a:r>
              <a:rPr dirty="0" sz="3950" spc="-65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systems</a:t>
            </a:r>
            <a:r>
              <a:rPr dirty="0" sz="3950" spc="-90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8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used</a:t>
            </a:r>
            <a:r>
              <a:rPr dirty="0" sz="3950" spc="-12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in</a:t>
            </a:r>
            <a:r>
              <a:rPr dirty="0" sz="3950" spc="-7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routers,</a:t>
            </a:r>
            <a:r>
              <a:rPr dirty="0" sz="3950" spc="-114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modems,</a:t>
            </a:r>
            <a:r>
              <a:rPr dirty="0" sz="3950" spc="-7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other</a:t>
            </a:r>
            <a:r>
              <a:rPr dirty="0" sz="3950" spc="-1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devices.</a:t>
            </a:r>
            <a:endParaRPr sz="3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950" b="1">
                <a:latin typeface="Calibri"/>
                <a:cs typeface="Calibri"/>
              </a:rPr>
              <a:t>Consumer</a:t>
            </a:r>
            <a:r>
              <a:rPr dirty="0" sz="3950" spc="-75" b="1">
                <a:latin typeface="Calibri"/>
                <a:cs typeface="Calibri"/>
              </a:rPr>
              <a:t> </a:t>
            </a:r>
            <a:r>
              <a:rPr dirty="0" sz="3950" b="1">
                <a:latin typeface="Calibri"/>
                <a:cs typeface="Calibri"/>
              </a:rPr>
              <a:t>electronics</a:t>
            </a:r>
            <a:r>
              <a:rPr dirty="0" sz="3950" spc="-114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9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TVs,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printers,</a:t>
            </a:r>
            <a:r>
              <a:rPr dirty="0" sz="3950" spc="-12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cameras,</a:t>
            </a:r>
            <a:r>
              <a:rPr dirty="0" sz="3950" spc="-12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9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smart</a:t>
            </a:r>
            <a:r>
              <a:rPr dirty="0" sz="3950" spc="-60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devices.</a:t>
            </a:r>
            <a:endParaRPr sz="3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latin typeface="Calibri"/>
                <a:cs typeface="Calibri"/>
              </a:rPr>
              <a:t>Robotics</a:t>
            </a:r>
            <a:r>
              <a:rPr dirty="0" sz="3950" spc="-105" b="1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–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controlling</a:t>
            </a:r>
            <a:r>
              <a:rPr dirty="0" sz="3950" spc="-11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motors,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sensors,</a:t>
            </a:r>
            <a:r>
              <a:rPr dirty="0" sz="3950" spc="-3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robotic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operations.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5" name="object 5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2630" y="2435542"/>
            <a:ext cx="4852035" cy="124206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355600" marR="5080" indent="-343535">
              <a:lnSpc>
                <a:spcPct val="101400"/>
              </a:lnSpc>
              <a:spcBef>
                <a:spcPts val="60"/>
              </a:spcBef>
            </a:pPr>
            <a:r>
              <a:rPr dirty="0"/>
              <a:t>Advantages</a:t>
            </a:r>
            <a:r>
              <a:rPr dirty="0" spc="-14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10"/>
              <a:t>Classical Microprocessor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630" y="3671633"/>
            <a:ext cx="6742430" cy="367728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13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3950">
                <a:latin typeface="Calibri"/>
                <a:cs typeface="Calibri"/>
              </a:rPr>
              <a:t>Simple</a:t>
            </a:r>
            <a:r>
              <a:rPr dirty="0" sz="3950" spc="-12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to</a:t>
            </a:r>
            <a:r>
              <a:rPr dirty="0" sz="3950" spc="-114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understand</a:t>
            </a:r>
            <a:r>
              <a:rPr dirty="0" sz="3950" spc="-7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90">
                <a:latin typeface="Calibri"/>
                <a:cs typeface="Calibri"/>
              </a:rPr>
              <a:t> </a:t>
            </a:r>
            <a:r>
              <a:rPr dirty="0" sz="3950" spc="-25">
                <a:latin typeface="Calibri"/>
                <a:cs typeface="Calibri"/>
              </a:rPr>
              <a:t>use</a:t>
            </a:r>
            <a:endParaRPr sz="395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3950">
                <a:latin typeface="Calibri"/>
                <a:cs typeface="Calibri"/>
              </a:rPr>
              <a:t>Low </a:t>
            </a:r>
            <a:r>
              <a:rPr dirty="0" sz="3950" spc="-20">
                <a:latin typeface="Calibri"/>
                <a:cs typeface="Calibri"/>
              </a:rPr>
              <a:t>cost</a:t>
            </a:r>
            <a:endParaRPr sz="395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3950">
                <a:latin typeface="Calibri"/>
                <a:cs typeface="Calibri"/>
              </a:rPr>
              <a:t>Reliable</a:t>
            </a:r>
            <a:r>
              <a:rPr dirty="0" sz="3950" spc="-8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3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stable</a:t>
            </a:r>
            <a:endParaRPr sz="39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950">
                <a:latin typeface="Calibri"/>
                <a:cs typeface="Calibri"/>
              </a:rPr>
              <a:t>Easy</a:t>
            </a:r>
            <a:r>
              <a:rPr dirty="0" sz="3950" spc="-10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to</a:t>
            </a:r>
            <a:r>
              <a:rPr dirty="0" sz="3950" spc="-150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program</a:t>
            </a:r>
            <a:endParaRPr sz="39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950">
                <a:latin typeface="Calibri"/>
                <a:cs typeface="Calibri"/>
              </a:rPr>
              <a:t>Widely</a:t>
            </a:r>
            <a:r>
              <a:rPr dirty="0" sz="3950" spc="-45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available</a:t>
            </a:r>
            <a:r>
              <a:rPr dirty="0" sz="3950" spc="-100">
                <a:latin typeface="Calibri"/>
                <a:cs typeface="Calibri"/>
              </a:rPr>
              <a:t> </a:t>
            </a:r>
            <a:r>
              <a:rPr dirty="0" sz="3950">
                <a:latin typeface="Calibri"/>
                <a:cs typeface="Calibri"/>
              </a:rPr>
              <a:t>and</a:t>
            </a:r>
            <a:r>
              <a:rPr dirty="0" sz="3950" spc="-95">
                <a:latin typeface="Calibri"/>
                <a:cs typeface="Calibri"/>
              </a:rPr>
              <a:t> </a:t>
            </a:r>
            <a:r>
              <a:rPr dirty="0" sz="3950" spc="-10">
                <a:latin typeface="Calibri"/>
                <a:cs typeface="Calibri"/>
              </a:rPr>
              <a:t>supported</a:t>
            </a:r>
            <a:endParaRPr sz="39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53550" y="1739852"/>
            <a:ext cx="8410575" cy="6699884"/>
            <a:chOff x="9353550" y="1739852"/>
            <a:chExt cx="8410575" cy="66998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3550" y="1739852"/>
              <a:ext cx="8410575" cy="66992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1650" y="1743075"/>
              <a:ext cx="8343900" cy="66389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96476" y="1747774"/>
              <a:ext cx="8343900" cy="6638925"/>
            </a:xfrm>
            <a:custGeom>
              <a:avLst/>
              <a:gdLst/>
              <a:ahLst/>
              <a:cxnLst/>
              <a:rect l="l" t="t" r="r" b="b"/>
              <a:pathLst>
                <a:path w="8343900" h="6638925">
                  <a:moveTo>
                    <a:pt x="0" y="1106551"/>
                  </a:moveTo>
                  <a:lnTo>
                    <a:pt x="1016" y="1058672"/>
                  </a:lnTo>
                  <a:lnTo>
                    <a:pt x="3937" y="1011174"/>
                  </a:lnTo>
                  <a:lnTo>
                    <a:pt x="9017" y="964183"/>
                  </a:lnTo>
                  <a:lnTo>
                    <a:pt x="16001" y="917955"/>
                  </a:lnTo>
                  <a:lnTo>
                    <a:pt x="24765" y="872235"/>
                  </a:lnTo>
                  <a:lnTo>
                    <a:pt x="35432" y="827277"/>
                  </a:lnTo>
                  <a:lnTo>
                    <a:pt x="48005" y="783081"/>
                  </a:lnTo>
                  <a:lnTo>
                    <a:pt x="62229" y="739521"/>
                  </a:lnTo>
                  <a:lnTo>
                    <a:pt x="78231" y="696849"/>
                  </a:lnTo>
                  <a:lnTo>
                    <a:pt x="95884" y="655066"/>
                  </a:lnTo>
                  <a:lnTo>
                    <a:pt x="115189" y="614172"/>
                  </a:lnTo>
                  <a:lnTo>
                    <a:pt x="136144" y="574167"/>
                  </a:lnTo>
                  <a:lnTo>
                    <a:pt x="158623" y="535177"/>
                  </a:lnTo>
                  <a:lnTo>
                    <a:pt x="182625" y="497204"/>
                  </a:lnTo>
                  <a:lnTo>
                    <a:pt x="208152" y="460375"/>
                  </a:lnTo>
                  <a:lnTo>
                    <a:pt x="235076" y="424560"/>
                  </a:lnTo>
                  <a:lnTo>
                    <a:pt x="263398" y="389890"/>
                  </a:lnTo>
                  <a:lnTo>
                    <a:pt x="292989" y="356361"/>
                  </a:lnTo>
                  <a:lnTo>
                    <a:pt x="323976" y="324230"/>
                  </a:lnTo>
                  <a:lnTo>
                    <a:pt x="356234" y="293243"/>
                  </a:lnTo>
                  <a:lnTo>
                    <a:pt x="389635" y="263525"/>
                  </a:lnTo>
                  <a:lnTo>
                    <a:pt x="424306" y="235203"/>
                  </a:lnTo>
                  <a:lnTo>
                    <a:pt x="460121" y="208279"/>
                  </a:lnTo>
                  <a:lnTo>
                    <a:pt x="497077" y="182752"/>
                  </a:lnTo>
                  <a:lnTo>
                    <a:pt x="535051" y="158750"/>
                  </a:lnTo>
                  <a:lnTo>
                    <a:pt x="574040" y="136271"/>
                  </a:lnTo>
                  <a:lnTo>
                    <a:pt x="613918" y="115443"/>
                  </a:lnTo>
                  <a:lnTo>
                    <a:pt x="654812" y="96011"/>
                  </a:lnTo>
                  <a:lnTo>
                    <a:pt x="696722" y="78358"/>
                  </a:lnTo>
                  <a:lnTo>
                    <a:pt x="739267" y="62356"/>
                  </a:lnTo>
                  <a:lnTo>
                    <a:pt x="782827" y="48132"/>
                  </a:lnTo>
                  <a:lnTo>
                    <a:pt x="827024" y="35559"/>
                  </a:lnTo>
                  <a:lnTo>
                    <a:pt x="871981" y="24892"/>
                  </a:lnTo>
                  <a:lnTo>
                    <a:pt x="917701" y="16128"/>
                  </a:lnTo>
                  <a:lnTo>
                    <a:pt x="963929" y="9144"/>
                  </a:lnTo>
                  <a:lnTo>
                    <a:pt x="1010920" y="4064"/>
                  </a:lnTo>
                  <a:lnTo>
                    <a:pt x="1058418" y="1143"/>
                  </a:lnTo>
                  <a:lnTo>
                    <a:pt x="1106424" y="0"/>
                  </a:lnTo>
                  <a:lnTo>
                    <a:pt x="7237222" y="0"/>
                  </a:lnTo>
                  <a:lnTo>
                    <a:pt x="7285228" y="1143"/>
                  </a:lnTo>
                  <a:lnTo>
                    <a:pt x="7332726" y="4064"/>
                  </a:lnTo>
                  <a:lnTo>
                    <a:pt x="7379716" y="9144"/>
                  </a:lnTo>
                  <a:lnTo>
                    <a:pt x="7425943" y="16128"/>
                  </a:lnTo>
                  <a:lnTo>
                    <a:pt x="7471664" y="24892"/>
                  </a:lnTo>
                  <a:lnTo>
                    <a:pt x="7516622" y="35559"/>
                  </a:lnTo>
                  <a:lnTo>
                    <a:pt x="7560818" y="48132"/>
                  </a:lnTo>
                  <a:lnTo>
                    <a:pt x="7604379" y="62356"/>
                  </a:lnTo>
                  <a:lnTo>
                    <a:pt x="7647051" y="78358"/>
                  </a:lnTo>
                  <a:lnTo>
                    <a:pt x="7688833" y="96011"/>
                  </a:lnTo>
                  <a:lnTo>
                    <a:pt x="7729728" y="115443"/>
                  </a:lnTo>
                  <a:lnTo>
                    <a:pt x="7769733" y="136271"/>
                  </a:lnTo>
                  <a:lnTo>
                    <a:pt x="7808722" y="158750"/>
                  </a:lnTo>
                  <a:lnTo>
                    <a:pt x="7846695" y="182752"/>
                  </a:lnTo>
                  <a:lnTo>
                    <a:pt x="7883525" y="208279"/>
                  </a:lnTo>
                  <a:lnTo>
                    <a:pt x="7919339" y="235203"/>
                  </a:lnTo>
                  <a:lnTo>
                    <a:pt x="7954010" y="263525"/>
                  </a:lnTo>
                  <a:lnTo>
                    <a:pt x="7987537" y="293243"/>
                  </a:lnTo>
                  <a:lnTo>
                    <a:pt x="8019668" y="324230"/>
                  </a:lnTo>
                  <a:lnTo>
                    <a:pt x="8050657" y="356361"/>
                  </a:lnTo>
                  <a:lnTo>
                    <a:pt x="8080375" y="389890"/>
                  </a:lnTo>
                  <a:lnTo>
                    <a:pt x="8108695" y="424560"/>
                  </a:lnTo>
                  <a:lnTo>
                    <a:pt x="8135620" y="460375"/>
                  </a:lnTo>
                  <a:lnTo>
                    <a:pt x="8161147" y="497204"/>
                  </a:lnTo>
                  <a:lnTo>
                    <a:pt x="8185150" y="535177"/>
                  </a:lnTo>
                  <a:lnTo>
                    <a:pt x="8207629" y="574167"/>
                  </a:lnTo>
                  <a:lnTo>
                    <a:pt x="8228457" y="614172"/>
                  </a:lnTo>
                  <a:lnTo>
                    <a:pt x="8247887" y="655066"/>
                  </a:lnTo>
                  <a:lnTo>
                    <a:pt x="8265541" y="696849"/>
                  </a:lnTo>
                  <a:lnTo>
                    <a:pt x="8281543" y="739521"/>
                  </a:lnTo>
                  <a:lnTo>
                    <a:pt x="8295766" y="783081"/>
                  </a:lnTo>
                  <a:lnTo>
                    <a:pt x="8308212" y="827277"/>
                  </a:lnTo>
                  <a:lnTo>
                    <a:pt x="8319008" y="872235"/>
                  </a:lnTo>
                  <a:lnTo>
                    <a:pt x="8327770" y="917955"/>
                  </a:lnTo>
                  <a:lnTo>
                    <a:pt x="8334756" y="964183"/>
                  </a:lnTo>
                  <a:lnTo>
                    <a:pt x="8339835" y="1011174"/>
                  </a:lnTo>
                  <a:lnTo>
                    <a:pt x="8342757" y="1058672"/>
                  </a:lnTo>
                  <a:lnTo>
                    <a:pt x="8343900" y="1106551"/>
                  </a:lnTo>
                  <a:lnTo>
                    <a:pt x="8343900" y="5532501"/>
                  </a:lnTo>
                  <a:lnTo>
                    <a:pt x="8342757" y="5580507"/>
                  </a:lnTo>
                  <a:lnTo>
                    <a:pt x="8339835" y="5628005"/>
                  </a:lnTo>
                  <a:lnTo>
                    <a:pt x="8334756" y="5674995"/>
                  </a:lnTo>
                  <a:lnTo>
                    <a:pt x="8327770" y="5721223"/>
                  </a:lnTo>
                  <a:lnTo>
                    <a:pt x="8319008" y="5766943"/>
                  </a:lnTo>
                  <a:lnTo>
                    <a:pt x="8308212" y="5811901"/>
                  </a:lnTo>
                  <a:lnTo>
                    <a:pt x="8295766" y="5856097"/>
                  </a:lnTo>
                  <a:lnTo>
                    <a:pt x="8281543" y="5899658"/>
                  </a:lnTo>
                  <a:lnTo>
                    <a:pt x="8265541" y="5942203"/>
                  </a:lnTo>
                  <a:lnTo>
                    <a:pt x="8247887" y="5984113"/>
                  </a:lnTo>
                  <a:lnTo>
                    <a:pt x="8228457" y="6025007"/>
                  </a:lnTo>
                  <a:lnTo>
                    <a:pt x="8207629" y="6064884"/>
                  </a:lnTo>
                  <a:lnTo>
                    <a:pt x="8185150" y="6103874"/>
                  </a:lnTo>
                  <a:lnTo>
                    <a:pt x="8161147" y="6141847"/>
                  </a:lnTo>
                  <a:lnTo>
                    <a:pt x="8135620" y="6178804"/>
                  </a:lnTo>
                  <a:lnTo>
                    <a:pt x="8108695" y="6214618"/>
                  </a:lnTo>
                  <a:lnTo>
                    <a:pt x="8080375" y="6249289"/>
                  </a:lnTo>
                  <a:lnTo>
                    <a:pt x="8050657" y="6282690"/>
                  </a:lnTo>
                  <a:lnTo>
                    <a:pt x="8019668" y="6314948"/>
                  </a:lnTo>
                  <a:lnTo>
                    <a:pt x="7987537" y="6345936"/>
                  </a:lnTo>
                  <a:lnTo>
                    <a:pt x="7954010" y="6375527"/>
                  </a:lnTo>
                  <a:lnTo>
                    <a:pt x="7919339" y="6403848"/>
                  </a:lnTo>
                  <a:lnTo>
                    <a:pt x="7883525" y="6430772"/>
                  </a:lnTo>
                  <a:lnTo>
                    <a:pt x="7846695" y="6456299"/>
                  </a:lnTo>
                  <a:lnTo>
                    <a:pt x="7808722" y="6480302"/>
                  </a:lnTo>
                  <a:lnTo>
                    <a:pt x="7769733" y="6502781"/>
                  </a:lnTo>
                  <a:lnTo>
                    <a:pt x="7729728" y="6523736"/>
                  </a:lnTo>
                  <a:lnTo>
                    <a:pt x="7688833" y="6543040"/>
                  </a:lnTo>
                  <a:lnTo>
                    <a:pt x="7647051" y="6560693"/>
                  </a:lnTo>
                  <a:lnTo>
                    <a:pt x="7604379" y="6576695"/>
                  </a:lnTo>
                  <a:lnTo>
                    <a:pt x="7560818" y="6590919"/>
                  </a:lnTo>
                  <a:lnTo>
                    <a:pt x="7516622" y="6603492"/>
                  </a:lnTo>
                  <a:lnTo>
                    <a:pt x="7471664" y="6614159"/>
                  </a:lnTo>
                  <a:lnTo>
                    <a:pt x="7425943" y="6622923"/>
                  </a:lnTo>
                  <a:lnTo>
                    <a:pt x="7379716" y="6629908"/>
                  </a:lnTo>
                  <a:lnTo>
                    <a:pt x="7332726" y="6634988"/>
                  </a:lnTo>
                  <a:lnTo>
                    <a:pt x="7285228" y="6637908"/>
                  </a:lnTo>
                  <a:lnTo>
                    <a:pt x="7237222" y="6638925"/>
                  </a:lnTo>
                  <a:lnTo>
                    <a:pt x="1106424" y="6638925"/>
                  </a:lnTo>
                  <a:lnTo>
                    <a:pt x="1058418" y="6637908"/>
                  </a:lnTo>
                  <a:lnTo>
                    <a:pt x="1010920" y="6634988"/>
                  </a:lnTo>
                  <a:lnTo>
                    <a:pt x="963929" y="6629908"/>
                  </a:lnTo>
                  <a:lnTo>
                    <a:pt x="917701" y="6622923"/>
                  </a:lnTo>
                  <a:lnTo>
                    <a:pt x="871981" y="6614159"/>
                  </a:lnTo>
                  <a:lnTo>
                    <a:pt x="827024" y="6603492"/>
                  </a:lnTo>
                  <a:lnTo>
                    <a:pt x="782827" y="6590919"/>
                  </a:lnTo>
                  <a:lnTo>
                    <a:pt x="739267" y="6576695"/>
                  </a:lnTo>
                  <a:lnTo>
                    <a:pt x="696722" y="6560693"/>
                  </a:lnTo>
                  <a:lnTo>
                    <a:pt x="654812" y="6543040"/>
                  </a:lnTo>
                  <a:lnTo>
                    <a:pt x="613918" y="6523736"/>
                  </a:lnTo>
                  <a:lnTo>
                    <a:pt x="574040" y="6502781"/>
                  </a:lnTo>
                  <a:lnTo>
                    <a:pt x="535051" y="6480302"/>
                  </a:lnTo>
                  <a:lnTo>
                    <a:pt x="497077" y="6456299"/>
                  </a:lnTo>
                  <a:lnTo>
                    <a:pt x="460121" y="6430772"/>
                  </a:lnTo>
                  <a:lnTo>
                    <a:pt x="424306" y="6403848"/>
                  </a:lnTo>
                  <a:lnTo>
                    <a:pt x="389635" y="6375527"/>
                  </a:lnTo>
                  <a:lnTo>
                    <a:pt x="356234" y="6345936"/>
                  </a:lnTo>
                  <a:lnTo>
                    <a:pt x="323976" y="6314948"/>
                  </a:lnTo>
                  <a:lnTo>
                    <a:pt x="292989" y="6282690"/>
                  </a:lnTo>
                  <a:lnTo>
                    <a:pt x="263398" y="6249289"/>
                  </a:lnTo>
                  <a:lnTo>
                    <a:pt x="235076" y="6214618"/>
                  </a:lnTo>
                  <a:lnTo>
                    <a:pt x="208152" y="6178804"/>
                  </a:lnTo>
                  <a:lnTo>
                    <a:pt x="182625" y="6141847"/>
                  </a:lnTo>
                  <a:lnTo>
                    <a:pt x="158623" y="6103874"/>
                  </a:lnTo>
                  <a:lnTo>
                    <a:pt x="136144" y="6064884"/>
                  </a:lnTo>
                  <a:lnTo>
                    <a:pt x="115189" y="6025007"/>
                  </a:lnTo>
                  <a:lnTo>
                    <a:pt x="95884" y="5984113"/>
                  </a:lnTo>
                  <a:lnTo>
                    <a:pt x="78231" y="5942203"/>
                  </a:lnTo>
                  <a:lnTo>
                    <a:pt x="62229" y="5899658"/>
                  </a:lnTo>
                  <a:lnTo>
                    <a:pt x="48005" y="5856097"/>
                  </a:lnTo>
                  <a:lnTo>
                    <a:pt x="35432" y="5811901"/>
                  </a:lnTo>
                  <a:lnTo>
                    <a:pt x="24765" y="5766943"/>
                  </a:lnTo>
                  <a:lnTo>
                    <a:pt x="16001" y="5721223"/>
                  </a:lnTo>
                  <a:lnTo>
                    <a:pt x="9017" y="5674995"/>
                  </a:lnTo>
                  <a:lnTo>
                    <a:pt x="3937" y="5628005"/>
                  </a:lnTo>
                  <a:lnTo>
                    <a:pt x="1016" y="5580507"/>
                  </a:lnTo>
                  <a:lnTo>
                    <a:pt x="0" y="5532501"/>
                  </a:lnTo>
                  <a:lnTo>
                    <a:pt x="0" y="1106551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2125345" marR="1147445" indent="-984885">
              <a:lnSpc>
                <a:spcPct val="100800"/>
              </a:lnSpc>
              <a:spcBef>
                <a:spcPts val="70"/>
              </a:spcBef>
            </a:pPr>
            <a:r>
              <a:rPr dirty="0" spc="-25"/>
              <a:t>Disadvantages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 spc="-10"/>
              <a:t>Classical Microprocessor</a:t>
            </a:r>
          </a:p>
          <a:p>
            <a:pPr marL="1405890" indent="-285115">
              <a:lnSpc>
                <a:spcPts val="4300"/>
              </a:lnSpc>
              <a:spcBef>
                <a:spcPts val="110"/>
              </a:spcBef>
              <a:buFont typeface="Arial MT"/>
              <a:buChar char="•"/>
              <a:tabLst>
                <a:tab pos="140589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Limited</a:t>
            </a:r>
            <a:r>
              <a:rPr dirty="0" spc="-1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processing</a:t>
            </a:r>
            <a:r>
              <a:rPr dirty="0" spc="-1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speed</a:t>
            </a:r>
          </a:p>
          <a:p>
            <a:pPr marL="444500" indent="-284480">
              <a:lnSpc>
                <a:spcPts val="4300"/>
              </a:lnSpc>
              <a:buFont typeface="Arial MT"/>
              <a:buChar char="•"/>
              <a:tabLst>
                <a:tab pos="44450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Consumes</a:t>
            </a:r>
            <a:r>
              <a:rPr dirty="0" spc="-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more</a:t>
            </a:r>
            <a:r>
              <a:rPr dirty="0" spc="-1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power</a:t>
            </a:r>
            <a:r>
              <a:rPr dirty="0" spc="-1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pc="-1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complex</a:t>
            </a:r>
          </a:p>
          <a:p>
            <a:pPr marL="3280410">
              <a:lnSpc>
                <a:spcPts val="4300"/>
              </a:lnSpc>
              <a:spcBef>
                <a:spcPts val="35"/>
              </a:spcBef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tasks</a:t>
            </a:r>
          </a:p>
          <a:p>
            <a:pPr lvl="1" marL="862965" indent="-285750">
              <a:lnSpc>
                <a:spcPts val="4300"/>
              </a:lnSpc>
              <a:buFont typeface="Arial MT"/>
              <a:buChar char="•"/>
              <a:tabLst>
                <a:tab pos="862965" algn="l"/>
              </a:tabLst>
            </a:pPr>
            <a:r>
              <a:rPr dirty="0" sz="3600">
                <a:latin typeface="Calibri"/>
                <a:cs typeface="Calibri"/>
              </a:rPr>
              <a:t>Cannot</a:t>
            </a:r>
            <a:r>
              <a:rPr dirty="0" sz="3600" spc="-1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perform</a:t>
            </a:r>
            <a:r>
              <a:rPr dirty="0" sz="3600" spc="-145">
                <a:latin typeface="Calibri"/>
                <a:cs typeface="Calibri"/>
              </a:rPr>
              <a:t> </a:t>
            </a:r>
            <a:r>
              <a:rPr dirty="0" sz="3600" spc="-15">
                <a:latin typeface="Calibri"/>
                <a:cs typeface="Calibri"/>
              </a:rPr>
              <a:t>quantum-</a:t>
            </a:r>
            <a:r>
              <a:rPr dirty="0" sz="3600" spc="-10">
                <a:latin typeface="Calibri"/>
                <a:cs typeface="Calibri"/>
              </a:rPr>
              <a:t>level</a:t>
            </a:r>
            <a:endParaRPr sz="3600">
              <a:latin typeface="Calibri"/>
              <a:cs typeface="Calibri"/>
            </a:endParaRPr>
          </a:p>
          <a:p>
            <a:pPr marL="2466975">
              <a:lnSpc>
                <a:spcPts val="4300"/>
              </a:lnSpc>
              <a:spcBef>
                <a:spcPts val="30"/>
              </a:spcBef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computations</a:t>
            </a:r>
          </a:p>
          <a:p>
            <a:pPr marL="297815" indent="-285115">
              <a:lnSpc>
                <a:spcPts val="428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pc="-1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decreases</a:t>
            </a:r>
            <a:r>
              <a:rPr dirty="0" spc="-1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pc="-1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very</a:t>
            </a:r>
            <a:r>
              <a:rPr dirty="0" spc="-1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large</a:t>
            </a:r>
          </a:p>
          <a:p>
            <a:pPr marL="2870200">
              <a:lnSpc>
                <a:spcPts val="4300"/>
              </a:lnSpc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problems</a:t>
            </a:r>
          </a:p>
          <a:p>
            <a:pPr marL="335280" indent="-28511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3528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Limited</a:t>
            </a:r>
            <a:r>
              <a:rPr dirty="0" spc="-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parallel</a:t>
            </a:r>
            <a:r>
              <a:rPr dirty="0" spc="-1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processing</a:t>
            </a:r>
            <a:r>
              <a:rPr dirty="0" spc="-1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capability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10" name="object 10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6575" y="1594548"/>
            <a:ext cx="8128000" cy="631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lr>
                <a:srgbClr val="001F5F"/>
              </a:buClr>
              <a:buFont typeface="Arial MT"/>
              <a:buChar char="•"/>
              <a:tabLst>
                <a:tab pos="354965" algn="l"/>
              </a:tabLst>
            </a:pP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Working</a:t>
            </a:r>
            <a:r>
              <a:rPr dirty="0" sz="395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3950" spc="-6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b="1">
                <a:solidFill>
                  <a:srgbClr val="001F5F"/>
                </a:solidFill>
                <a:latin typeface="Calibri"/>
                <a:cs typeface="Calibri"/>
              </a:rPr>
              <a:t>Quantum</a:t>
            </a:r>
            <a:r>
              <a:rPr dirty="0" sz="3950" spc="-8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950" spc="-10" b="1">
                <a:solidFill>
                  <a:srgbClr val="001F5F"/>
                </a:solidFill>
                <a:latin typeface="Calibri"/>
                <a:cs typeface="Calibri"/>
              </a:rPr>
              <a:t>Microprocessor</a:t>
            </a:r>
            <a:endParaRPr sz="3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902" y="2562225"/>
            <a:ext cx="16375097" cy="53530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6" name="object 6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765" y="1446402"/>
            <a:ext cx="11141075" cy="5288280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358140" indent="-342265">
              <a:lnSpc>
                <a:spcPct val="100000"/>
              </a:lnSpc>
              <a:spcBef>
                <a:spcPts val="1170"/>
              </a:spcBef>
              <a:buClr>
                <a:srgbClr val="001F5F"/>
              </a:buClr>
              <a:buFont typeface="Arial MT"/>
              <a:buChar char="•"/>
              <a:tabLst>
                <a:tab pos="358140" algn="l"/>
              </a:tabLst>
            </a:pPr>
            <a:r>
              <a:rPr dirty="0" sz="4800" b="1">
                <a:solidFill>
                  <a:srgbClr val="001F5F"/>
                </a:solidFill>
                <a:latin typeface="Calibri"/>
                <a:cs typeface="Calibri"/>
              </a:rPr>
              <a:t>Applications</a:t>
            </a:r>
            <a:r>
              <a:rPr dirty="0" sz="4800" spc="-17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4800" spc="-1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01F5F"/>
                </a:solidFill>
                <a:latin typeface="Calibri"/>
                <a:cs typeface="Calibri"/>
              </a:rPr>
              <a:t>Quantum</a:t>
            </a:r>
            <a:r>
              <a:rPr dirty="0" sz="4800" spc="-16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001F5F"/>
                </a:solidFill>
                <a:latin typeface="Calibri"/>
                <a:cs typeface="Calibri"/>
              </a:rPr>
              <a:t>Microprocessor</a:t>
            </a:r>
            <a:endParaRPr sz="480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070"/>
              </a:spcBef>
              <a:buSzPct val="95833"/>
              <a:buAutoNum type="arabicPeriod"/>
              <a:tabLst>
                <a:tab pos="478790" algn="l"/>
              </a:tabLst>
            </a:pPr>
            <a:r>
              <a:rPr dirty="0" sz="4800">
                <a:latin typeface="Calibri"/>
                <a:cs typeface="Calibri"/>
              </a:rPr>
              <a:t>Artificial</a:t>
            </a:r>
            <a:r>
              <a:rPr dirty="0" sz="4800" spc="-204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Intelligence</a:t>
            </a:r>
            <a:r>
              <a:rPr dirty="0" sz="4800" spc="-180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and</a:t>
            </a:r>
            <a:r>
              <a:rPr dirty="0" sz="4800" spc="-190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Machine</a:t>
            </a:r>
            <a:r>
              <a:rPr dirty="0" sz="4800" spc="-130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Learning</a:t>
            </a:r>
            <a:endParaRPr sz="480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225"/>
              </a:spcBef>
              <a:buSzPct val="95833"/>
              <a:buAutoNum type="arabicPeriod"/>
              <a:tabLst>
                <a:tab pos="478790" algn="l"/>
              </a:tabLst>
            </a:pPr>
            <a:r>
              <a:rPr dirty="0" sz="4800" spc="-45">
                <a:latin typeface="Calibri"/>
                <a:cs typeface="Calibri"/>
              </a:rPr>
              <a:t>Cryptography</a:t>
            </a:r>
            <a:r>
              <a:rPr dirty="0" sz="4800" spc="-200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and</a:t>
            </a:r>
            <a:r>
              <a:rPr dirty="0" sz="4800" spc="-95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Cybersecurity</a:t>
            </a:r>
            <a:endParaRPr sz="480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145"/>
              </a:spcBef>
              <a:buSzPct val="95833"/>
              <a:buAutoNum type="arabicPeriod"/>
              <a:tabLst>
                <a:tab pos="478790" algn="l"/>
              </a:tabLst>
            </a:pPr>
            <a:r>
              <a:rPr dirty="0" sz="4800">
                <a:latin typeface="Calibri"/>
                <a:cs typeface="Calibri"/>
              </a:rPr>
              <a:t>Drug</a:t>
            </a:r>
            <a:r>
              <a:rPr dirty="0" sz="4800" spc="-114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and</a:t>
            </a:r>
            <a:r>
              <a:rPr dirty="0" sz="4800" spc="-8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medical</a:t>
            </a:r>
            <a:r>
              <a:rPr dirty="0" sz="4800" spc="-160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research</a:t>
            </a:r>
            <a:endParaRPr sz="480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145"/>
              </a:spcBef>
              <a:buSzPct val="95833"/>
              <a:buAutoNum type="arabicPeriod"/>
              <a:tabLst>
                <a:tab pos="478790" algn="l"/>
              </a:tabLst>
            </a:pPr>
            <a:r>
              <a:rPr dirty="0" sz="4800" spc="-20">
                <a:latin typeface="Calibri"/>
                <a:cs typeface="Calibri"/>
              </a:rPr>
              <a:t>Weather</a:t>
            </a:r>
            <a:r>
              <a:rPr dirty="0" sz="4800" spc="-22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and</a:t>
            </a:r>
            <a:r>
              <a:rPr dirty="0" sz="4800" spc="-15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climate</a:t>
            </a:r>
            <a:r>
              <a:rPr dirty="0" sz="4800" spc="-145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simulation</a:t>
            </a:r>
            <a:endParaRPr sz="480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220"/>
              </a:spcBef>
              <a:buSzPct val="95833"/>
              <a:buAutoNum type="arabicPeriod"/>
              <a:tabLst>
                <a:tab pos="478790" algn="l"/>
              </a:tabLst>
            </a:pPr>
            <a:r>
              <a:rPr dirty="0" sz="4800" spc="-20">
                <a:latin typeface="Calibri"/>
                <a:cs typeface="Calibri"/>
              </a:rPr>
              <a:t>Optimization</a:t>
            </a:r>
            <a:r>
              <a:rPr dirty="0" sz="4800" spc="-19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of</a:t>
            </a:r>
            <a:r>
              <a:rPr dirty="0" sz="4800" spc="-18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complex</a:t>
            </a:r>
            <a:r>
              <a:rPr dirty="0" sz="4800" spc="-155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problems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5" name="object 5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" y="1295400"/>
            <a:ext cx="9182100" cy="8810625"/>
            <a:chOff x="19050" y="1295400"/>
            <a:chExt cx="9182100" cy="8810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1295400"/>
              <a:ext cx="8324850" cy="7429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" y="1333500"/>
              <a:ext cx="8210550" cy="73056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8212" y="1338198"/>
              <a:ext cx="8210550" cy="7305675"/>
            </a:xfrm>
            <a:custGeom>
              <a:avLst/>
              <a:gdLst/>
              <a:ahLst/>
              <a:cxnLst/>
              <a:rect l="l" t="t" r="r" b="b"/>
              <a:pathLst>
                <a:path w="8210550" h="7305675">
                  <a:moveTo>
                    <a:pt x="0" y="1217676"/>
                  </a:moveTo>
                  <a:lnTo>
                    <a:pt x="927" y="1169924"/>
                  </a:lnTo>
                  <a:lnTo>
                    <a:pt x="3670" y="1122552"/>
                  </a:lnTo>
                  <a:lnTo>
                    <a:pt x="8204" y="1075690"/>
                  </a:lnTo>
                  <a:lnTo>
                    <a:pt x="14490" y="1029461"/>
                  </a:lnTo>
                  <a:lnTo>
                    <a:pt x="22491" y="983742"/>
                  </a:lnTo>
                  <a:lnTo>
                    <a:pt x="32194" y="938529"/>
                  </a:lnTo>
                  <a:lnTo>
                    <a:pt x="43535" y="894079"/>
                  </a:lnTo>
                  <a:lnTo>
                    <a:pt x="56515" y="850265"/>
                  </a:lnTo>
                  <a:lnTo>
                    <a:pt x="71056" y="807084"/>
                  </a:lnTo>
                  <a:lnTo>
                    <a:pt x="87172" y="764667"/>
                  </a:lnTo>
                  <a:lnTo>
                    <a:pt x="104787" y="723010"/>
                  </a:lnTo>
                  <a:lnTo>
                    <a:pt x="123888" y="682244"/>
                  </a:lnTo>
                  <a:lnTo>
                    <a:pt x="144449" y="642239"/>
                  </a:lnTo>
                  <a:lnTo>
                    <a:pt x="166420" y="603123"/>
                  </a:lnTo>
                  <a:lnTo>
                    <a:pt x="189776" y="565023"/>
                  </a:lnTo>
                  <a:lnTo>
                    <a:pt x="214477" y="527684"/>
                  </a:lnTo>
                  <a:lnTo>
                    <a:pt x="240487" y="491490"/>
                  </a:lnTo>
                  <a:lnTo>
                    <a:pt x="267792" y="456183"/>
                  </a:lnTo>
                  <a:lnTo>
                    <a:pt x="296329" y="421894"/>
                  </a:lnTo>
                  <a:lnTo>
                    <a:pt x="326085" y="388747"/>
                  </a:lnTo>
                  <a:lnTo>
                    <a:pt x="357060" y="356743"/>
                  </a:lnTo>
                  <a:lnTo>
                    <a:pt x="389064" y="325881"/>
                  </a:lnTo>
                  <a:lnTo>
                    <a:pt x="422338" y="296036"/>
                  </a:lnTo>
                  <a:lnTo>
                    <a:pt x="456501" y="267589"/>
                  </a:lnTo>
                  <a:lnTo>
                    <a:pt x="491807" y="240283"/>
                  </a:lnTo>
                  <a:lnTo>
                    <a:pt x="528129" y="214375"/>
                  </a:lnTo>
                  <a:lnTo>
                    <a:pt x="565467" y="189610"/>
                  </a:lnTo>
                  <a:lnTo>
                    <a:pt x="603694" y="166370"/>
                  </a:lnTo>
                  <a:lnTo>
                    <a:pt x="642810" y="144399"/>
                  </a:lnTo>
                  <a:lnTo>
                    <a:pt x="682815" y="123825"/>
                  </a:lnTo>
                  <a:lnTo>
                    <a:pt x="723709" y="104775"/>
                  </a:lnTo>
                  <a:lnTo>
                    <a:pt x="765365" y="87122"/>
                  </a:lnTo>
                  <a:lnTo>
                    <a:pt x="807783" y="71120"/>
                  </a:lnTo>
                  <a:lnTo>
                    <a:pt x="850963" y="56515"/>
                  </a:lnTo>
                  <a:lnTo>
                    <a:pt x="894905" y="43560"/>
                  </a:lnTo>
                  <a:lnTo>
                    <a:pt x="939482" y="32257"/>
                  </a:lnTo>
                  <a:lnTo>
                    <a:pt x="984567" y="22478"/>
                  </a:lnTo>
                  <a:lnTo>
                    <a:pt x="1030414" y="14477"/>
                  </a:lnTo>
                  <a:lnTo>
                    <a:pt x="1076769" y="8254"/>
                  </a:lnTo>
                  <a:lnTo>
                    <a:pt x="1123632" y="3682"/>
                  </a:lnTo>
                  <a:lnTo>
                    <a:pt x="1171130" y="1016"/>
                  </a:lnTo>
                  <a:lnTo>
                    <a:pt x="1218882" y="0"/>
                  </a:lnTo>
                  <a:lnTo>
                    <a:pt x="6991032" y="0"/>
                  </a:lnTo>
                  <a:lnTo>
                    <a:pt x="7038784" y="1016"/>
                  </a:lnTo>
                  <a:lnTo>
                    <a:pt x="7086282" y="3682"/>
                  </a:lnTo>
                  <a:lnTo>
                    <a:pt x="7133145" y="8254"/>
                  </a:lnTo>
                  <a:lnTo>
                    <a:pt x="7179500" y="14477"/>
                  </a:lnTo>
                  <a:lnTo>
                    <a:pt x="7225347" y="22478"/>
                  </a:lnTo>
                  <a:lnTo>
                    <a:pt x="7270432" y="32257"/>
                  </a:lnTo>
                  <a:lnTo>
                    <a:pt x="7315009" y="43560"/>
                  </a:lnTo>
                  <a:lnTo>
                    <a:pt x="7358951" y="56515"/>
                  </a:lnTo>
                  <a:lnTo>
                    <a:pt x="7402131" y="71120"/>
                  </a:lnTo>
                  <a:lnTo>
                    <a:pt x="7444549" y="87122"/>
                  </a:lnTo>
                  <a:lnTo>
                    <a:pt x="7486205" y="104775"/>
                  </a:lnTo>
                  <a:lnTo>
                    <a:pt x="7527099" y="123825"/>
                  </a:lnTo>
                  <a:lnTo>
                    <a:pt x="7567104" y="144399"/>
                  </a:lnTo>
                  <a:lnTo>
                    <a:pt x="7606220" y="166370"/>
                  </a:lnTo>
                  <a:lnTo>
                    <a:pt x="7644447" y="189610"/>
                  </a:lnTo>
                  <a:lnTo>
                    <a:pt x="7681785" y="214375"/>
                  </a:lnTo>
                  <a:lnTo>
                    <a:pt x="7718107" y="240283"/>
                  </a:lnTo>
                  <a:lnTo>
                    <a:pt x="7753413" y="267589"/>
                  </a:lnTo>
                  <a:lnTo>
                    <a:pt x="7787703" y="296036"/>
                  </a:lnTo>
                  <a:lnTo>
                    <a:pt x="7820850" y="325881"/>
                  </a:lnTo>
                  <a:lnTo>
                    <a:pt x="7852981" y="356743"/>
                  </a:lnTo>
                  <a:lnTo>
                    <a:pt x="7883842" y="388747"/>
                  </a:lnTo>
                  <a:lnTo>
                    <a:pt x="7913560" y="421894"/>
                  </a:lnTo>
                  <a:lnTo>
                    <a:pt x="7942135" y="456183"/>
                  </a:lnTo>
                  <a:lnTo>
                    <a:pt x="7969440" y="491490"/>
                  </a:lnTo>
                  <a:lnTo>
                    <a:pt x="7995475" y="527684"/>
                  </a:lnTo>
                  <a:lnTo>
                    <a:pt x="8020240" y="565023"/>
                  </a:lnTo>
                  <a:lnTo>
                    <a:pt x="8043481" y="603123"/>
                  </a:lnTo>
                  <a:lnTo>
                    <a:pt x="8065452" y="642239"/>
                  </a:lnTo>
                  <a:lnTo>
                    <a:pt x="8086026" y="682244"/>
                  </a:lnTo>
                  <a:lnTo>
                    <a:pt x="8105203" y="723010"/>
                  </a:lnTo>
                  <a:lnTo>
                    <a:pt x="8122856" y="764667"/>
                  </a:lnTo>
                  <a:lnTo>
                    <a:pt x="8138858" y="807084"/>
                  </a:lnTo>
                  <a:lnTo>
                    <a:pt x="8153463" y="850265"/>
                  </a:lnTo>
                  <a:lnTo>
                    <a:pt x="8166417" y="894079"/>
                  </a:lnTo>
                  <a:lnTo>
                    <a:pt x="8177720" y="938529"/>
                  </a:lnTo>
                  <a:lnTo>
                    <a:pt x="8187499" y="983742"/>
                  </a:lnTo>
                  <a:lnTo>
                    <a:pt x="8195500" y="1029461"/>
                  </a:lnTo>
                  <a:lnTo>
                    <a:pt x="8201723" y="1075690"/>
                  </a:lnTo>
                  <a:lnTo>
                    <a:pt x="8206295" y="1122552"/>
                  </a:lnTo>
                  <a:lnTo>
                    <a:pt x="8209089" y="1169924"/>
                  </a:lnTo>
                  <a:lnTo>
                    <a:pt x="8209978" y="1217676"/>
                  </a:lnTo>
                  <a:lnTo>
                    <a:pt x="8209978" y="6088126"/>
                  </a:lnTo>
                  <a:lnTo>
                    <a:pt x="8209089" y="6136005"/>
                  </a:lnTo>
                  <a:lnTo>
                    <a:pt x="8206295" y="6183376"/>
                  </a:lnTo>
                  <a:lnTo>
                    <a:pt x="8201723" y="6230239"/>
                  </a:lnTo>
                  <a:lnTo>
                    <a:pt x="8195500" y="6276467"/>
                  </a:lnTo>
                  <a:lnTo>
                    <a:pt x="8187499" y="6322187"/>
                  </a:lnTo>
                  <a:lnTo>
                    <a:pt x="8177720" y="6367399"/>
                  </a:lnTo>
                  <a:lnTo>
                    <a:pt x="8166417" y="6411849"/>
                  </a:lnTo>
                  <a:lnTo>
                    <a:pt x="8153463" y="6455664"/>
                  </a:lnTo>
                  <a:lnTo>
                    <a:pt x="8138858" y="6498844"/>
                  </a:lnTo>
                  <a:lnTo>
                    <a:pt x="8122856" y="6541261"/>
                  </a:lnTo>
                  <a:lnTo>
                    <a:pt x="8105203" y="6582790"/>
                  </a:lnTo>
                  <a:lnTo>
                    <a:pt x="8086026" y="6623684"/>
                  </a:lnTo>
                  <a:lnTo>
                    <a:pt x="8065452" y="6663563"/>
                  </a:lnTo>
                  <a:lnTo>
                    <a:pt x="8043481" y="6702679"/>
                  </a:lnTo>
                  <a:lnTo>
                    <a:pt x="8020240" y="6740906"/>
                  </a:lnTo>
                  <a:lnTo>
                    <a:pt x="7995475" y="6778117"/>
                  </a:lnTo>
                  <a:lnTo>
                    <a:pt x="7969440" y="6814438"/>
                  </a:lnTo>
                  <a:lnTo>
                    <a:pt x="7942135" y="6849745"/>
                  </a:lnTo>
                  <a:lnTo>
                    <a:pt x="7913560" y="6883908"/>
                  </a:lnTo>
                  <a:lnTo>
                    <a:pt x="7883842" y="6917055"/>
                  </a:lnTo>
                  <a:lnTo>
                    <a:pt x="7852981" y="6949186"/>
                  </a:lnTo>
                  <a:lnTo>
                    <a:pt x="7820850" y="6980047"/>
                  </a:lnTo>
                  <a:lnTo>
                    <a:pt x="7787703" y="7009765"/>
                  </a:lnTo>
                  <a:lnTo>
                    <a:pt x="7753413" y="7038213"/>
                  </a:lnTo>
                  <a:lnTo>
                    <a:pt x="7718107" y="7065518"/>
                  </a:lnTo>
                  <a:lnTo>
                    <a:pt x="7681785" y="7091553"/>
                  </a:lnTo>
                  <a:lnTo>
                    <a:pt x="7644447" y="7116190"/>
                  </a:lnTo>
                  <a:lnTo>
                    <a:pt x="7606220" y="7139558"/>
                  </a:lnTo>
                  <a:lnTo>
                    <a:pt x="7567104" y="7161403"/>
                  </a:lnTo>
                  <a:lnTo>
                    <a:pt x="7527099" y="7181977"/>
                  </a:lnTo>
                  <a:lnTo>
                    <a:pt x="7486205" y="7201027"/>
                  </a:lnTo>
                  <a:lnTo>
                    <a:pt x="7444549" y="7218680"/>
                  </a:lnTo>
                  <a:lnTo>
                    <a:pt x="7402131" y="7234808"/>
                  </a:lnTo>
                  <a:lnTo>
                    <a:pt x="7358951" y="7249286"/>
                  </a:lnTo>
                  <a:lnTo>
                    <a:pt x="7315009" y="7262240"/>
                  </a:lnTo>
                  <a:lnTo>
                    <a:pt x="7270432" y="7273544"/>
                  </a:lnTo>
                  <a:lnTo>
                    <a:pt x="7225347" y="7283323"/>
                  </a:lnTo>
                  <a:lnTo>
                    <a:pt x="7179500" y="7291324"/>
                  </a:lnTo>
                  <a:lnTo>
                    <a:pt x="7133145" y="7297547"/>
                  </a:lnTo>
                  <a:lnTo>
                    <a:pt x="7086282" y="7302119"/>
                  </a:lnTo>
                  <a:lnTo>
                    <a:pt x="7038784" y="7304786"/>
                  </a:lnTo>
                  <a:lnTo>
                    <a:pt x="6991032" y="7305675"/>
                  </a:lnTo>
                  <a:lnTo>
                    <a:pt x="1218882" y="7305675"/>
                  </a:lnTo>
                  <a:lnTo>
                    <a:pt x="1171130" y="7304786"/>
                  </a:lnTo>
                  <a:lnTo>
                    <a:pt x="1123632" y="7302119"/>
                  </a:lnTo>
                  <a:lnTo>
                    <a:pt x="1076769" y="7297547"/>
                  </a:lnTo>
                  <a:lnTo>
                    <a:pt x="1030414" y="7291324"/>
                  </a:lnTo>
                  <a:lnTo>
                    <a:pt x="984567" y="7283323"/>
                  </a:lnTo>
                  <a:lnTo>
                    <a:pt x="939482" y="7273544"/>
                  </a:lnTo>
                  <a:lnTo>
                    <a:pt x="894905" y="7262240"/>
                  </a:lnTo>
                  <a:lnTo>
                    <a:pt x="850963" y="7249286"/>
                  </a:lnTo>
                  <a:lnTo>
                    <a:pt x="807783" y="7234808"/>
                  </a:lnTo>
                  <a:lnTo>
                    <a:pt x="765365" y="7218680"/>
                  </a:lnTo>
                  <a:lnTo>
                    <a:pt x="723709" y="7201027"/>
                  </a:lnTo>
                  <a:lnTo>
                    <a:pt x="682815" y="7181977"/>
                  </a:lnTo>
                  <a:lnTo>
                    <a:pt x="642810" y="7161403"/>
                  </a:lnTo>
                  <a:lnTo>
                    <a:pt x="603694" y="7139558"/>
                  </a:lnTo>
                  <a:lnTo>
                    <a:pt x="565467" y="7116190"/>
                  </a:lnTo>
                  <a:lnTo>
                    <a:pt x="528129" y="7091553"/>
                  </a:lnTo>
                  <a:lnTo>
                    <a:pt x="491807" y="7065518"/>
                  </a:lnTo>
                  <a:lnTo>
                    <a:pt x="456501" y="7038213"/>
                  </a:lnTo>
                  <a:lnTo>
                    <a:pt x="422338" y="7009765"/>
                  </a:lnTo>
                  <a:lnTo>
                    <a:pt x="389064" y="6980047"/>
                  </a:lnTo>
                  <a:lnTo>
                    <a:pt x="357060" y="6949186"/>
                  </a:lnTo>
                  <a:lnTo>
                    <a:pt x="326085" y="6917055"/>
                  </a:lnTo>
                  <a:lnTo>
                    <a:pt x="296329" y="6883908"/>
                  </a:lnTo>
                  <a:lnTo>
                    <a:pt x="267792" y="6849745"/>
                  </a:lnTo>
                  <a:lnTo>
                    <a:pt x="240487" y="6814438"/>
                  </a:lnTo>
                  <a:lnTo>
                    <a:pt x="214477" y="6778117"/>
                  </a:lnTo>
                  <a:lnTo>
                    <a:pt x="189776" y="6740906"/>
                  </a:lnTo>
                  <a:lnTo>
                    <a:pt x="166420" y="6702679"/>
                  </a:lnTo>
                  <a:lnTo>
                    <a:pt x="144449" y="6663563"/>
                  </a:lnTo>
                  <a:lnTo>
                    <a:pt x="123888" y="6623684"/>
                  </a:lnTo>
                  <a:lnTo>
                    <a:pt x="104787" y="6582790"/>
                  </a:lnTo>
                  <a:lnTo>
                    <a:pt x="87172" y="6541261"/>
                  </a:lnTo>
                  <a:lnTo>
                    <a:pt x="71056" y="6498844"/>
                  </a:lnTo>
                  <a:lnTo>
                    <a:pt x="56515" y="6455664"/>
                  </a:lnTo>
                  <a:lnTo>
                    <a:pt x="43535" y="6411849"/>
                  </a:lnTo>
                  <a:lnTo>
                    <a:pt x="32194" y="6367399"/>
                  </a:lnTo>
                  <a:lnTo>
                    <a:pt x="22491" y="6322187"/>
                  </a:lnTo>
                  <a:lnTo>
                    <a:pt x="14490" y="6276467"/>
                  </a:lnTo>
                  <a:lnTo>
                    <a:pt x="8204" y="6230239"/>
                  </a:lnTo>
                  <a:lnTo>
                    <a:pt x="3670" y="6183376"/>
                  </a:lnTo>
                  <a:lnTo>
                    <a:pt x="927" y="6136005"/>
                  </a:lnTo>
                  <a:lnTo>
                    <a:pt x="0" y="6088126"/>
                  </a:lnTo>
                  <a:lnTo>
                    <a:pt x="0" y="1217676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68425" y="2437383"/>
            <a:ext cx="7319645" cy="49993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6510" marR="2710180">
              <a:lnSpc>
                <a:spcPct val="100800"/>
              </a:lnSpc>
              <a:spcBef>
                <a:spcPts val="70"/>
              </a:spcBef>
            </a:pPr>
            <a:r>
              <a:rPr dirty="0" sz="3600" spc="-25" b="1">
                <a:solidFill>
                  <a:srgbClr val="001F5F"/>
                </a:solidFill>
                <a:latin typeface="Calibri"/>
                <a:cs typeface="Calibri"/>
              </a:rPr>
              <a:t>Advantages</a:t>
            </a:r>
            <a:r>
              <a:rPr dirty="0" sz="3600" spc="-9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3600" spc="-9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1F5F"/>
                </a:solidFill>
                <a:latin typeface="Calibri"/>
                <a:cs typeface="Calibri"/>
              </a:rPr>
              <a:t>Quantum Microprocessor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ts val="4300"/>
              </a:lnSpc>
              <a:spcBef>
                <a:spcPts val="110"/>
              </a:spcBef>
              <a:buSzPct val="94444"/>
              <a:buAutoNum type="arabicPeriod"/>
              <a:tabLst>
                <a:tab pos="363220" algn="l"/>
              </a:tabLst>
            </a:pPr>
            <a:r>
              <a:rPr dirty="0" sz="3600" spc="-20">
                <a:latin typeface="Calibri"/>
                <a:cs typeface="Calibri"/>
              </a:rPr>
              <a:t>Very</a:t>
            </a:r>
            <a:r>
              <a:rPr dirty="0" sz="3600" spc="-1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high</a:t>
            </a:r>
            <a:r>
              <a:rPr dirty="0" sz="3600" spc="-18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processing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power</a:t>
            </a:r>
            <a:endParaRPr sz="3600">
              <a:latin typeface="Calibri"/>
              <a:cs typeface="Calibri"/>
            </a:endParaRPr>
          </a:p>
          <a:p>
            <a:pPr marL="363855" indent="-351155">
              <a:lnSpc>
                <a:spcPts val="4300"/>
              </a:lnSpc>
              <a:buSzPct val="94444"/>
              <a:buAutoNum type="arabicPeriod"/>
              <a:tabLst>
                <a:tab pos="363855" algn="l"/>
              </a:tabLst>
            </a:pPr>
            <a:r>
              <a:rPr dirty="0" sz="3600">
                <a:latin typeface="Calibri"/>
                <a:cs typeface="Calibri"/>
              </a:rPr>
              <a:t>Solves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some</a:t>
            </a:r>
            <a:r>
              <a:rPr dirty="0" sz="3600" spc="-20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complex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problems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faster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ct val="100000"/>
              </a:lnSpc>
              <a:spcBef>
                <a:spcPts val="35"/>
              </a:spcBef>
              <a:buSzPct val="94444"/>
              <a:buAutoNum type="arabicPeriod"/>
              <a:tabLst>
                <a:tab pos="363220" algn="l"/>
              </a:tabLst>
            </a:pPr>
            <a:r>
              <a:rPr dirty="0" sz="3600">
                <a:latin typeface="Calibri"/>
                <a:cs typeface="Calibri"/>
              </a:rPr>
              <a:t>Can</a:t>
            </a:r>
            <a:r>
              <a:rPr dirty="0" sz="3600" spc="-1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process</a:t>
            </a:r>
            <a:r>
              <a:rPr dirty="0" sz="3600" spc="-9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multiple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possibilities</a:t>
            </a:r>
            <a:endParaRPr sz="3600">
              <a:latin typeface="Calibri"/>
              <a:cs typeface="Calibri"/>
            </a:endParaRPr>
          </a:p>
          <a:p>
            <a:pPr marL="16510" marR="1537335" indent="-4445">
              <a:lnSpc>
                <a:spcPct val="102499"/>
              </a:lnSpc>
              <a:buSzPct val="94444"/>
              <a:buAutoNum type="arabicPeriod"/>
              <a:tabLst>
                <a:tab pos="16510" algn="l"/>
                <a:tab pos="362585" algn="l"/>
              </a:tabLst>
            </a:pPr>
            <a:r>
              <a:rPr dirty="0" sz="3600">
                <a:latin typeface="Calibri"/>
                <a:cs typeface="Calibri"/>
              </a:rPr>
              <a:t>	</a:t>
            </a:r>
            <a:r>
              <a:rPr dirty="0" sz="3600">
                <a:latin typeface="Calibri"/>
                <a:cs typeface="Calibri"/>
              </a:rPr>
              <a:t>Useful</a:t>
            </a:r>
            <a:r>
              <a:rPr dirty="0" sz="3600" spc="-1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-2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advanced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scientific research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ts val="4205"/>
              </a:lnSpc>
              <a:buSzPct val="94444"/>
              <a:buAutoNum type="arabicPeriod"/>
              <a:tabLst>
                <a:tab pos="363220" algn="l"/>
              </a:tabLst>
            </a:pPr>
            <a:r>
              <a:rPr dirty="0" sz="3600">
                <a:latin typeface="Calibri"/>
                <a:cs typeface="Calibri"/>
              </a:rPr>
              <a:t>Can</a:t>
            </a:r>
            <a:r>
              <a:rPr dirty="0" sz="3600" spc="-1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improve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optimization</a:t>
            </a:r>
            <a:r>
              <a:rPr dirty="0" sz="3600" spc="-185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and</a:t>
            </a:r>
            <a:endParaRPr sz="36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35"/>
              </a:spcBef>
            </a:pPr>
            <a:r>
              <a:rPr dirty="0" sz="3600" spc="-10">
                <a:latin typeface="Calibri"/>
                <a:cs typeface="Calibri"/>
              </a:rPr>
              <a:t>simulation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34500" y="1304925"/>
            <a:ext cx="7772400" cy="7429500"/>
            <a:chOff x="9334500" y="1304925"/>
            <a:chExt cx="7772400" cy="74295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4500" y="1304925"/>
              <a:ext cx="7772400" cy="7429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01175" y="1343025"/>
              <a:ext cx="7648575" cy="73056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06001" y="1347723"/>
              <a:ext cx="7648575" cy="7305675"/>
            </a:xfrm>
            <a:custGeom>
              <a:avLst/>
              <a:gdLst/>
              <a:ahLst/>
              <a:cxnLst/>
              <a:rect l="l" t="t" r="r" b="b"/>
              <a:pathLst>
                <a:path w="7648575" h="7305675">
                  <a:moveTo>
                    <a:pt x="0" y="1217676"/>
                  </a:moveTo>
                  <a:lnTo>
                    <a:pt x="889" y="1169924"/>
                  </a:lnTo>
                  <a:lnTo>
                    <a:pt x="3555" y="1122552"/>
                  </a:lnTo>
                  <a:lnTo>
                    <a:pt x="8127" y="1075690"/>
                  </a:lnTo>
                  <a:lnTo>
                    <a:pt x="14350" y="1029461"/>
                  </a:lnTo>
                  <a:lnTo>
                    <a:pt x="22351" y="983742"/>
                  </a:lnTo>
                  <a:lnTo>
                    <a:pt x="32130" y="938529"/>
                  </a:lnTo>
                  <a:lnTo>
                    <a:pt x="43433" y="894079"/>
                  </a:lnTo>
                  <a:lnTo>
                    <a:pt x="56388" y="850265"/>
                  </a:lnTo>
                  <a:lnTo>
                    <a:pt x="70866" y="807084"/>
                  </a:lnTo>
                  <a:lnTo>
                    <a:pt x="86995" y="764667"/>
                  </a:lnTo>
                  <a:lnTo>
                    <a:pt x="104648" y="723010"/>
                  </a:lnTo>
                  <a:lnTo>
                    <a:pt x="123698" y="682244"/>
                  </a:lnTo>
                  <a:lnTo>
                    <a:pt x="144272" y="642239"/>
                  </a:lnTo>
                  <a:lnTo>
                    <a:pt x="166116" y="603123"/>
                  </a:lnTo>
                  <a:lnTo>
                    <a:pt x="189483" y="565023"/>
                  </a:lnTo>
                  <a:lnTo>
                    <a:pt x="214122" y="527684"/>
                  </a:lnTo>
                  <a:lnTo>
                    <a:pt x="240156" y="491490"/>
                  </a:lnTo>
                  <a:lnTo>
                    <a:pt x="267462" y="456183"/>
                  </a:lnTo>
                  <a:lnTo>
                    <a:pt x="295909" y="421894"/>
                  </a:lnTo>
                  <a:lnTo>
                    <a:pt x="325627" y="388747"/>
                  </a:lnTo>
                  <a:lnTo>
                    <a:pt x="356489" y="356743"/>
                  </a:lnTo>
                  <a:lnTo>
                    <a:pt x="388620" y="325881"/>
                  </a:lnTo>
                  <a:lnTo>
                    <a:pt x="421767" y="296036"/>
                  </a:lnTo>
                  <a:lnTo>
                    <a:pt x="455929" y="267589"/>
                  </a:lnTo>
                  <a:lnTo>
                    <a:pt x="491235" y="240283"/>
                  </a:lnTo>
                  <a:lnTo>
                    <a:pt x="527557" y="214375"/>
                  </a:lnTo>
                  <a:lnTo>
                    <a:pt x="564769" y="189610"/>
                  </a:lnTo>
                  <a:lnTo>
                    <a:pt x="602996" y="166370"/>
                  </a:lnTo>
                  <a:lnTo>
                    <a:pt x="642112" y="144399"/>
                  </a:lnTo>
                  <a:lnTo>
                    <a:pt x="681990" y="123825"/>
                  </a:lnTo>
                  <a:lnTo>
                    <a:pt x="722883" y="104775"/>
                  </a:lnTo>
                  <a:lnTo>
                    <a:pt x="764413" y="87122"/>
                  </a:lnTo>
                  <a:lnTo>
                    <a:pt x="806830" y="71120"/>
                  </a:lnTo>
                  <a:lnTo>
                    <a:pt x="850010" y="56515"/>
                  </a:lnTo>
                  <a:lnTo>
                    <a:pt x="893826" y="43560"/>
                  </a:lnTo>
                  <a:lnTo>
                    <a:pt x="938276" y="32257"/>
                  </a:lnTo>
                  <a:lnTo>
                    <a:pt x="983488" y="22478"/>
                  </a:lnTo>
                  <a:lnTo>
                    <a:pt x="1029207" y="14477"/>
                  </a:lnTo>
                  <a:lnTo>
                    <a:pt x="1075435" y="8254"/>
                  </a:lnTo>
                  <a:lnTo>
                    <a:pt x="1122299" y="3682"/>
                  </a:lnTo>
                  <a:lnTo>
                    <a:pt x="1169670" y="1016"/>
                  </a:lnTo>
                  <a:lnTo>
                    <a:pt x="1217549" y="0"/>
                  </a:lnTo>
                  <a:lnTo>
                    <a:pt x="6430899" y="0"/>
                  </a:lnTo>
                  <a:lnTo>
                    <a:pt x="6478651" y="1016"/>
                  </a:lnTo>
                  <a:lnTo>
                    <a:pt x="6526022" y="3682"/>
                  </a:lnTo>
                  <a:lnTo>
                    <a:pt x="6572885" y="8254"/>
                  </a:lnTo>
                  <a:lnTo>
                    <a:pt x="6619112" y="14477"/>
                  </a:lnTo>
                  <a:lnTo>
                    <a:pt x="6664833" y="22478"/>
                  </a:lnTo>
                  <a:lnTo>
                    <a:pt x="6710045" y="32257"/>
                  </a:lnTo>
                  <a:lnTo>
                    <a:pt x="6754495" y="43560"/>
                  </a:lnTo>
                  <a:lnTo>
                    <a:pt x="6798310" y="56515"/>
                  </a:lnTo>
                  <a:lnTo>
                    <a:pt x="6841489" y="71120"/>
                  </a:lnTo>
                  <a:lnTo>
                    <a:pt x="6883908" y="87122"/>
                  </a:lnTo>
                  <a:lnTo>
                    <a:pt x="6925564" y="104775"/>
                  </a:lnTo>
                  <a:lnTo>
                    <a:pt x="6966331" y="123825"/>
                  </a:lnTo>
                  <a:lnTo>
                    <a:pt x="7006335" y="144399"/>
                  </a:lnTo>
                  <a:lnTo>
                    <a:pt x="7045452" y="166370"/>
                  </a:lnTo>
                  <a:lnTo>
                    <a:pt x="7083552" y="189610"/>
                  </a:lnTo>
                  <a:lnTo>
                    <a:pt x="7120889" y="214375"/>
                  </a:lnTo>
                  <a:lnTo>
                    <a:pt x="7157085" y="240283"/>
                  </a:lnTo>
                  <a:lnTo>
                    <a:pt x="7192391" y="267589"/>
                  </a:lnTo>
                  <a:lnTo>
                    <a:pt x="7226681" y="296036"/>
                  </a:lnTo>
                  <a:lnTo>
                    <a:pt x="7259828" y="325881"/>
                  </a:lnTo>
                  <a:lnTo>
                    <a:pt x="7291832" y="356743"/>
                  </a:lnTo>
                  <a:lnTo>
                    <a:pt x="7322693" y="388747"/>
                  </a:lnTo>
                  <a:lnTo>
                    <a:pt x="7352537" y="421894"/>
                  </a:lnTo>
                  <a:lnTo>
                    <a:pt x="7380985" y="456183"/>
                  </a:lnTo>
                  <a:lnTo>
                    <a:pt x="7408291" y="491490"/>
                  </a:lnTo>
                  <a:lnTo>
                    <a:pt x="7434199" y="527684"/>
                  </a:lnTo>
                  <a:lnTo>
                    <a:pt x="7458964" y="565023"/>
                  </a:lnTo>
                  <a:lnTo>
                    <a:pt x="7482205" y="603123"/>
                  </a:lnTo>
                  <a:lnTo>
                    <a:pt x="7504176" y="642239"/>
                  </a:lnTo>
                  <a:lnTo>
                    <a:pt x="7524750" y="682244"/>
                  </a:lnTo>
                  <a:lnTo>
                    <a:pt x="7543800" y="723010"/>
                  </a:lnTo>
                  <a:lnTo>
                    <a:pt x="7561453" y="764667"/>
                  </a:lnTo>
                  <a:lnTo>
                    <a:pt x="7577455" y="807084"/>
                  </a:lnTo>
                  <a:lnTo>
                    <a:pt x="7592060" y="850265"/>
                  </a:lnTo>
                  <a:lnTo>
                    <a:pt x="7605014" y="894079"/>
                  </a:lnTo>
                  <a:lnTo>
                    <a:pt x="7616316" y="938529"/>
                  </a:lnTo>
                  <a:lnTo>
                    <a:pt x="7626095" y="983742"/>
                  </a:lnTo>
                  <a:lnTo>
                    <a:pt x="7634097" y="1029461"/>
                  </a:lnTo>
                  <a:lnTo>
                    <a:pt x="7640320" y="1075690"/>
                  </a:lnTo>
                  <a:lnTo>
                    <a:pt x="7644891" y="1122552"/>
                  </a:lnTo>
                  <a:lnTo>
                    <a:pt x="7647558" y="1169924"/>
                  </a:lnTo>
                  <a:lnTo>
                    <a:pt x="7648575" y="1217676"/>
                  </a:lnTo>
                  <a:lnTo>
                    <a:pt x="7648575" y="6088126"/>
                  </a:lnTo>
                  <a:lnTo>
                    <a:pt x="7647558" y="6136005"/>
                  </a:lnTo>
                  <a:lnTo>
                    <a:pt x="7644891" y="6183376"/>
                  </a:lnTo>
                  <a:lnTo>
                    <a:pt x="7640320" y="6230239"/>
                  </a:lnTo>
                  <a:lnTo>
                    <a:pt x="7634097" y="6276467"/>
                  </a:lnTo>
                  <a:lnTo>
                    <a:pt x="7626095" y="6322187"/>
                  </a:lnTo>
                  <a:lnTo>
                    <a:pt x="7616316" y="6367399"/>
                  </a:lnTo>
                  <a:lnTo>
                    <a:pt x="7605014" y="6411849"/>
                  </a:lnTo>
                  <a:lnTo>
                    <a:pt x="7592060" y="6455664"/>
                  </a:lnTo>
                  <a:lnTo>
                    <a:pt x="7577455" y="6498844"/>
                  </a:lnTo>
                  <a:lnTo>
                    <a:pt x="7561453" y="6541261"/>
                  </a:lnTo>
                  <a:lnTo>
                    <a:pt x="7543800" y="6582790"/>
                  </a:lnTo>
                  <a:lnTo>
                    <a:pt x="7524750" y="6623684"/>
                  </a:lnTo>
                  <a:lnTo>
                    <a:pt x="7504176" y="6663563"/>
                  </a:lnTo>
                  <a:lnTo>
                    <a:pt x="7482205" y="6702679"/>
                  </a:lnTo>
                  <a:lnTo>
                    <a:pt x="7458964" y="6740906"/>
                  </a:lnTo>
                  <a:lnTo>
                    <a:pt x="7434199" y="6778117"/>
                  </a:lnTo>
                  <a:lnTo>
                    <a:pt x="7408291" y="6814438"/>
                  </a:lnTo>
                  <a:lnTo>
                    <a:pt x="7380985" y="6849745"/>
                  </a:lnTo>
                  <a:lnTo>
                    <a:pt x="7352537" y="6883908"/>
                  </a:lnTo>
                  <a:lnTo>
                    <a:pt x="7322693" y="6917055"/>
                  </a:lnTo>
                  <a:lnTo>
                    <a:pt x="7291832" y="6949186"/>
                  </a:lnTo>
                  <a:lnTo>
                    <a:pt x="7259828" y="6980047"/>
                  </a:lnTo>
                  <a:lnTo>
                    <a:pt x="7226681" y="7009765"/>
                  </a:lnTo>
                  <a:lnTo>
                    <a:pt x="7192391" y="7038213"/>
                  </a:lnTo>
                  <a:lnTo>
                    <a:pt x="7157085" y="7065518"/>
                  </a:lnTo>
                  <a:lnTo>
                    <a:pt x="7120889" y="7091553"/>
                  </a:lnTo>
                  <a:lnTo>
                    <a:pt x="7083552" y="7116190"/>
                  </a:lnTo>
                  <a:lnTo>
                    <a:pt x="7045452" y="7139558"/>
                  </a:lnTo>
                  <a:lnTo>
                    <a:pt x="7006335" y="7161403"/>
                  </a:lnTo>
                  <a:lnTo>
                    <a:pt x="6966331" y="7181977"/>
                  </a:lnTo>
                  <a:lnTo>
                    <a:pt x="6925564" y="7201027"/>
                  </a:lnTo>
                  <a:lnTo>
                    <a:pt x="6883908" y="7218680"/>
                  </a:lnTo>
                  <a:lnTo>
                    <a:pt x="6841489" y="7234808"/>
                  </a:lnTo>
                  <a:lnTo>
                    <a:pt x="6798310" y="7249286"/>
                  </a:lnTo>
                  <a:lnTo>
                    <a:pt x="6754495" y="7262240"/>
                  </a:lnTo>
                  <a:lnTo>
                    <a:pt x="6710045" y="7273544"/>
                  </a:lnTo>
                  <a:lnTo>
                    <a:pt x="6664833" y="7283323"/>
                  </a:lnTo>
                  <a:lnTo>
                    <a:pt x="6619112" y="7291324"/>
                  </a:lnTo>
                  <a:lnTo>
                    <a:pt x="6572885" y="7297547"/>
                  </a:lnTo>
                  <a:lnTo>
                    <a:pt x="6526022" y="7302119"/>
                  </a:lnTo>
                  <a:lnTo>
                    <a:pt x="6478651" y="7304786"/>
                  </a:lnTo>
                  <a:lnTo>
                    <a:pt x="6430899" y="7305675"/>
                  </a:lnTo>
                  <a:lnTo>
                    <a:pt x="1217549" y="7305675"/>
                  </a:lnTo>
                  <a:lnTo>
                    <a:pt x="1169670" y="7304786"/>
                  </a:lnTo>
                  <a:lnTo>
                    <a:pt x="1122299" y="7302119"/>
                  </a:lnTo>
                  <a:lnTo>
                    <a:pt x="1075435" y="7297547"/>
                  </a:lnTo>
                  <a:lnTo>
                    <a:pt x="1029207" y="7291324"/>
                  </a:lnTo>
                  <a:lnTo>
                    <a:pt x="983488" y="7283323"/>
                  </a:lnTo>
                  <a:lnTo>
                    <a:pt x="938276" y="7273544"/>
                  </a:lnTo>
                  <a:lnTo>
                    <a:pt x="893826" y="7262240"/>
                  </a:lnTo>
                  <a:lnTo>
                    <a:pt x="850010" y="7249286"/>
                  </a:lnTo>
                  <a:lnTo>
                    <a:pt x="806830" y="7234808"/>
                  </a:lnTo>
                  <a:lnTo>
                    <a:pt x="764413" y="7218680"/>
                  </a:lnTo>
                  <a:lnTo>
                    <a:pt x="722883" y="7201027"/>
                  </a:lnTo>
                  <a:lnTo>
                    <a:pt x="681990" y="7181977"/>
                  </a:lnTo>
                  <a:lnTo>
                    <a:pt x="642112" y="7161403"/>
                  </a:lnTo>
                  <a:lnTo>
                    <a:pt x="602996" y="7139558"/>
                  </a:lnTo>
                  <a:lnTo>
                    <a:pt x="564769" y="7116190"/>
                  </a:lnTo>
                  <a:lnTo>
                    <a:pt x="527557" y="7091553"/>
                  </a:lnTo>
                  <a:lnTo>
                    <a:pt x="491235" y="7065518"/>
                  </a:lnTo>
                  <a:lnTo>
                    <a:pt x="455929" y="7038213"/>
                  </a:lnTo>
                  <a:lnTo>
                    <a:pt x="421767" y="7009765"/>
                  </a:lnTo>
                  <a:lnTo>
                    <a:pt x="388620" y="6980047"/>
                  </a:lnTo>
                  <a:lnTo>
                    <a:pt x="356489" y="6949186"/>
                  </a:lnTo>
                  <a:lnTo>
                    <a:pt x="325627" y="6917055"/>
                  </a:lnTo>
                  <a:lnTo>
                    <a:pt x="295909" y="6883908"/>
                  </a:lnTo>
                  <a:lnTo>
                    <a:pt x="267462" y="6849745"/>
                  </a:lnTo>
                  <a:lnTo>
                    <a:pt x="240156" y="6814438"/>
                  </a:lnTo>
                  <a:lnTo>
                    <a:pt x="214122" y="6778117"/>
                  </a:lnTo>
                  <a:lnTo>
                    <a:pt x="189483" y="6740906"/>
                  </a:lnTo>
                  <a:lnTo>
                    <a:pt x="166116" y="6702679"/>
                  </a:lnTo>
                  <a:lnTo>
                    <a:pt x="144272" y="6663563"/>
                  </a:lnTo>
                  <a:lnTo>
                    <a:pt x="123698" y="6623684"/>
                  </a:lnTo>
                  <a:lnTo>
                    <a:pt x="104648" y="6582790"/>
                  </a:lnTo>
                  <a:lnTo>
                    <a:pt x="86995" y="6541261"/>
                  </a:lnTo>
                  <a:lnTo>
                    <a:pt x="70866" y="6498844"/>
                  </a:lnTo>
                  <a:lnTo>
                    <a:pt x="56388" y="6455664"/>
                  </a:lnTo>
                  <a:lnTo>
                    <a:pt x="43433" y="6411849"/>
                  </a:lnTo>
                  <a:lnTo>
                    <a:pt x="32130" y="6367399"/>
                  </a:lnTo>
                  <a:lnTo>
                    <a:pt x="22351" y="6322187"/>
                  </a:lnTo>
                  <a:lnTo>
                    <a:pt x="14350" y="6276467"/>
                  </a:lnTo>
                  <a:lnTo>
                    <a:pt x="8127" y="6230239"/>
                  </a:lnTo>
                  <a:lnTo>
                    <a:pt x="3555" y="6183376"/>
                  </a:lnTo>
                  <a:lnTo>
                    <a:pt x="889" y="6136005"/>
                  </a:lnTo>
                  <a:lnTo>
                    <a:pt x="0" y="6088126"/>
                  </a:lnTo>
                  <a:lnTo>
                    <a:pt x="0" y="1217676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835515" y="2171382"/>
            <a:ext cx="6435725" cy="55702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6510" marR="1290955">
              <a:lnSpc>
                <a:spcPct val="100800"/>
              </a:lnSpc>
              <a:spcBef>
                <a:spcPts val="65"/>
              </a:spcBef>
            </a:pPr>
            <a:r>
              <a:rPr dirty="0" sz="3600" spc="-10" b="1">
                <a:solidFill>
                  <a:srgbClr val="001F5F"/>
                </a:solidFill>
                <a:latin typeface="Calibri"/>
                <a:cs typeface="Calibri"/>
              </a:rPr>
              <a:t>Disadvantages</a:t>
            </a:r>
            <a:r>
              <a:rPr dirty="0" sz="3600" spc="-15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3600" spc="-114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1F5F"/>
                </a:solidFill>
                <a:latin typeface="Calibri"/>
                <a:cs typeface="Calibri"/>
              </a:rPr>
              <a:t>Quantum Microprocessor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ts val="4300"/>
              </a:lnSpc>
              <a:spcBef>
                <a:spcPts val="110"/>
              </a:spcBef>
              <a:buSzPct val="94444"/>
              <a:buAutoNum type="arabicPeriod"/>
              <a:tabLst>
                <a:tab pos="363220" algn="l"/>
              </a:tabLst>
            </a:pPr>
            <a:r>
              <a:rPr dirty="0" sz="3600" spc="-10">
                <a:latin typeface="Calibri"/>
                <a:cs typeface="Calibri"/>
              </a:rPr>
              <a:t>Very</a:t>
            </a:r>
            <a:r>
              <a:rPr dirty="0" sz="3600" spc="-1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expensive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build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ts val="4300"/>
              </a:lnSpc>
              <a:buSzPct val="94444"/>
              <a:buAutoNum type="arabicPeriod"/>
              <a:tabLst>
                <a:tab pos="363220" algn="l"/>
              </a:tabLst>
            </a:pPr>
            <a:r>
              <a:rPr dirty="0" sz="3600">
                <a:latin typeface="Calibri"/>
                <a:cs typeface="Calibri"/>
              </a:rPr>
              <a:t>Difficult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develop</a:t>
            </a:r>
            <a:r>
              <a:rPr dirty="0" sz="3600" spc="-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maintain</a:t>
            </a:r>
            <a:endParaRPr sz="3600">
              <a:latin typeface="Calibri"/>
              <a:cs typeface="Calibri"/>
            </a:endParaRPr>
          </a:p>
          <a:p>
            <a:pPr marL="16510" marR="1199515" indent="-3810">
              <a:lnSpc>
                <a:spcPts val="4430"/>
              </a:lnSpc>
              <a:spcBef>
                <a:spcPts val="90"/>
              </a:spcBef>
              <a:buSzPct val="94444"/>
              <a:buAutoNum type="arabicPeriod"/>
              <a:tabLst>
                <a:tab pos="16510" algn="l"/>
                <a:tab pos="363855" algn="l"/>
              </a:tabLst>
            </a:pPr>
            <a:r>
              <a:rPr dirty="0" sz="3600">
                <a:latin typeface="Calibri"/>
                <a:cs typeface="Calibri"/>
              </a:rPr>
              <a:t>	</a:t>
            </a:r>
            <a:r>
              <a:rPr dirty="0" sz="3600">
                <a:latin typeface="Calibri"/>
                <a:cs typeface="Calibri"/>
              </a:rPr>
              <a:t>Requires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special</a:t>
            </a:r>
            <a:r>
              <a:rPr dirty="0" sz="3600" spc="-15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operating conditions</a:t>
            </a:r>
            <a:endParaRPr sz="3600">
              <a:latin typeface="Calibri"/>
              <a:cs typeface="Calibri"/>
            </a:endParaRPr>
          </a:p>
          <a:p>
            <a:pPr marL="16510" marR="735330" indent="-4445">
              <a:lnSpc>
                <a:spcPts val="4280"/>
              </a:lnSpc>
              <a:spcBef>
                <a:spcPts val="270"/>
              </a:spcBef>
              <a:buSzPct val="94444"/>
              <a:buAutoNum type="arabicPeriod"/>
              <a:tabLst>
                <a:tab pos="16510" algn="l"/>
                <a:tab pos="362585" algn="l"/>
              </a:tabLst>
            </a:pPr>
            <a:r>
              <a:rPr dirty="0" sz="3600">
                <a:latin typeface="Calibri"/>
                <a:cs typeface="Calibri"/>
              </a:rPr>
              <a:t>	</a:t>
            </a:r>
            <a:r>
              <a:rPr dirty="0" sz="3600">
                <a:latin typeface="Calibri"/>
                <a:cs typeface="Calibri"/>
              </a:rPr>
              <a:t>Qubits</a:t>
            </a:r>
            <a:r>
              <a:rPr dirty="0" sz="3600" spc="-1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are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highly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sensitive</a:t>
            </a:r>
            <a:r>
              <a:rPr dirty="0" sz="3600" spc="-80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to </a:t>
            </a:r>
            <a:r>
              <a:rPr dirty="0" sz="3600" spc="-10">
                <a:latin typeface="Calibri"/>
                <a:cs typeface="Calibri"/>
              </a:rPr>
              <a:t>errors</a:t>
            </a:r>
            <a:endParaRPr sz="3600">
              <a:latin typeface="Calibri"/>
              <a:cs typeface="Calibri"/>
            </a:endParaRPr>
          </a:p>
          <a:p>
            <a:pPr marL="363220" indent="-350520">
              <a:lnSpc>
                <a:spcPts val="4140"/>
              </a:lnSpc>
              <a:buSzPct val="94444"/>
              <a:buAutoNum type="arabicPeriod"/>
              <a:tabLst>
                <a:tab pos="363220" algn="l"/>
              </a:tabLst>
            </a:pPr>
            <a:r>
              <a:rPr dirty="0" sz="3600">
                <a:latin typeface="Calibri"/>
                <a:cs typeface="Calibri"/>
              </a:rPr>
              <a:t>Limited</a:t>
            </a:r>
            <a:r>
              <a:rPr dirty="0" sz="3600" spc="-1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practical</a:t>
            </a:r>
            <a:r>
              <a:rPr dirty="0" sz="3600" spc="-2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applications</a:t>
            </a:r>
            <a:endParaRPr sz="36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30"/>
              </a:spcBef>
            </a:pPr>
            <a:r>
              <a:rPr dirty="0" sz="3600" spc="-10">
                <a:latin typeface="Calibri"/>
                <a:cs typeface="Calibri"/>
              </a:rPr>
              <a:t>currently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14" name="object 14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1000" y="1557324"/>
          <a:ext cx="17621250" cy="7148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7435"/>
                <a:gridCol w="6251574"/>
                <a:gridCol w="7687309"/>
              </a:tblGrid>
              <a:tr h="85534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3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121739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Classical</a:t>
                      </a:r>
                      <a:r>
                        <a:rPr dirty="0" sz="3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Microprocessor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121739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Quantum</a:t>
                      </a:r>
                      <a:r>
                        <a:rPr dirty="0" sz="3200" spc="-10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Microprocessor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60655"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121739"/>
                    </a:solidFill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Basic</a:t>
                      </a:r>
                      <a:r>
                        <a:rPr dirty="0" sz="2750" spc="105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844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r>
                        <a:rPr dirty="0" sz="2750" spc="4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holds</a:t>
                      </a:r>
                      <a:r>
                        <a:rPr dirty="0" sz="2750" spc="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either</a:t>
                      </a:r>
                      <a:r>
                        <a:rPr dirty="0" sz="2750" spc="9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2750" spc="1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2750" spc="8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844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Qubit</a:t>
                      </a:r>
                      <a:r>
                        <a:rPr dirty="0" sz="2750" spc="4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750" spc="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holds</a:t>
                      </a:r>
                      <a:r>
                        <a:rPr dirty="0" sz="2750" spc="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0,</a:t>
                      </a:r>
                      <a:r>
                        <a:rPr dirty="0" sz="2750" spc="4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sz="2750" spc="-2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2750" spc="7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both</a:t>
                      </a:r>
                      <a:r>
                        <a:rPr dirty="0" sz="2750" spc="10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2750" spc="4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844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dirty="0" sz="2750" spc="95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Principle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907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Definite</a:t>
                      </a:r>
                      <a:r>
                        <a:rPr dirty="0" sz="2750" spc="8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binary</a:t>
                      </a:r>
                      <a:r>
                        <a:rPr dirty="0" sz="2750" spc="6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states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907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Superposition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2750" spc="9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entanglement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1907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Processing</a:t>
                      </a:r>
                      <a:r>
                        <a:rPr dirty="0" sz="2750" spc="165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Style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034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Sequential</a:t>
                      </a:r>
                      <a:r>
                        <a:rPr dirty="0" sz="2750" spc="4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2750" spc="13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parallelism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034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Massive</a:t>
                      </a:r>
                      <a:r>
                        <a:rPr dirty="0" sz="2750" spc="1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inherent</a:t>
                      </a:r>
                      <a:r>
                        <a:rPr dirty="0" sz="2750" spc="13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parallelism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034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</a:tr>
              <a:tr h="955040">
                <a:tc>
                  <a:txBody>
                    <a:bodyPr/>
                    <a:lstStyle/>
                    <a:p>
                      <a:pPr marL="127000" marR="1304290">
                        <a:lnSpc>
                          <a:spcPct val="102400"/>
                        </a:lnSpc>
                        <a:spcBef>
                          <a:spcPts val="235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r>
                        <a:rPr dirty="0" sz="2750" spc="8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2750" spc="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Hard </a:t>
                      </a:r>
                      <a:r>
                        <a:rPr dirty="0" sz="2750" spc="-1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Problems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Slows</a:t>
                      </a:r>
                      <a:r>
                        <a:rPr dirty="0" sz="2750" spc="9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sharply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2750" spc="9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complexity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grows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5336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Exponential</a:t>
                      </a:r>
                      <a:r>
                        <a:rPr dirty="0" sz="2750" spc="114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speed-up</a:t>
                      </a:r>
                      <a:r>
                        <a:rPr dirty="0" sz="2750" spc="12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750" spc="8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dirty="0" sz="2750" spc="18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problems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5336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2750" spc="1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2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161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dirty="0" sz="2750" spc="5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low,</a:t>
                      </a:r>
                      <a:r>
                        <a:rPr dirty="0" sz="2750" spc="9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highly</a:t>
                      </a:r>
                      <a:r>
                        <a:rPr dirty="0" sz="2750" spc="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161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750" spc="8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750" spc="7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sensitive</a:t>
                      </a:r>
                      <a:r>
                        <a:rPr dirty="0" sz="2750" spc="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750" spc="114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noise</a:t>
                      </a:r>
                      <a:r>
                        <a:rPr dirty="0" sz="2750" spc="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2750" spc="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decoherence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161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dirty="0" sz="275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2750" spc="95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Conditions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288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r>
                        <a:rPr dirty="0" sz="2750" spc="8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temperature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288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Near</a:t>
                      </a:r>
                      <a:r>
                        <a:rPr dirty="0" sz="2750" spc="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absolute</a:t>
                      </a:r>
                      <a:r>
                        <a:rPr dirty="0" sz="2750" spc="10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zero</a:t>
                      </a:r>
                      <a:r>
                        <a:rPr dirty="0" sz="2750" spc="10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(extreme</a:t>
                      </a:r>
                      <a:r>
                        <a:rPr dirty="0" sz="2750" spc="10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cooling)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2885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750" spc="-10" b="1">
                          <a:solidFill>
                            <a:srgbClr val="1B1F3A"/>
                          </a:solidFill>
                          <a:latin typeface="Calibri"/>
                          <a:cs typeface="Calibri"/>
                        </a:rPr>
                        <a:t>Maturity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352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Fully</a:t>
                      </a:r>
                      <a:r>
                        <a:rPr dirty="0" sz="2750" spc="8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commercial,</a:t>
                      </a:r>
                      <a:r>
                        <a:rPr dirty="0" sz="2750" spc="6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mainstream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352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Experimental,</a:t>
                      </a:r>
                      <a:r>
                        <a:rPr dirty="0" sz="2750" spc="20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early-stage</a:t>
                      </a:r>
                      <a:r>
                        <a:rPr dirty="0" sz="2750" spc="185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50" spc="-1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223520">
                    <a:lnT w="9525">
                      <a:solidFill>
                        <a:srgbClr val="E1E4F5"/>
                      </a:solidFill>
                      <a:prstDash val="solid"/>
                    </a:lnT>
                    <a:lnB w="9525">
                      <a:solidFill>
                        <a:srgbClr val="E1E4F5"/>
                      </a:solidFill>
                      <a:prstDash val="soli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10"/>
              <a:t>2</a:t>
            </a:r>
            <a:r>
              <a:rPr dirty="0" spc="-305"/>
              <a:t> </a:t>
            </a:r>
            <a:r>
              <a:rPr dirty="0" baseline="-27777" sz="2700" spc="-89"/>
              <a:t>2</a:t>
            </a:r>
            <a:endParaRPr baseline="-27777" sz="2700"/>
          </a:p>
        </p:txBody>
      </p:sp>
      <p:sp>
        <p:nvSpPr>
          <p:cNvPr id="5" name="object 5"/>
          <p:cNvSpPr txBox="1"/>
          <p:nvPr/>
        </p:nvSpPr>
        <p:spPr>
          <a:xfrm>
            <a:off x="7267956" y="9687826"/>
            <a:ext cx="16160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45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5476" y="9687826"/>
            <a:ext cx="2454275" cy="332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70"/>
              </a:lnSpc>
            </a:pPr>
            <a:r>
              <a:rPr dirty="0" sz="2150">
                <a:latin typeface="Times New Roman"/>
                <a:cs typeface="Times New Roman"/>
              </a:rPr>
              <a:t>computer</a:t>
            </a:r>
            <a:r>
              <a:rPr dirty="0" sz="2150" spc="25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Engineering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7005" y="9819744"/>
            <a:ext cx="3414395" cy="33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95"/>
              </a:lnSpc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5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005" y="9802812"/>
            <a:ext cx="341439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50">
                <a:solidFill>
                  <a:srgbClr val="7D7D7D"/>
                </a:solidFill>
                <a:latin typeface="Trebuchet MS"/>
                <a:cs typeface="Trebuchet MS"/>
              </a:rPr>
              <a:t>Varale,</a:t>
            </a:r>
            <a:r>
              <a:rPr dirty="0" sz="2100" spc="-30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35">
                <a:solidFill>
                  <a:srgbClr val="7D7D7D"/>
                </a:solidFill>
                <a:latin typeface="Trebuchet MS"/>
                <a:cs typeface="Trebuchet MS"/>
              </a:rPr>
              <a:t>Talegaon,</a:t>
            </a:r>
            <a:r>
              <a:rPr dirty="0" sz="2100" spc="-254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65">
                <a:solidFill>
                  <a:srgbClr val="7D7D7D"/>
                </a:solidFill>
                <a:latin typeface="Trebuchet MS"/>
                <a:cs typeface="Trebuchet MS"/>
              </a:rPr>
              <a:t>Pune</a:t>
            </a:r>
            <a:r>
              <a:rPr dirty="0" sz="2100" spc="-175">
                <a:solidFill>
                  <a:srgbClr val="7D7D7D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7D7D7D"/>
                </a:solidFill>
                <a:latin typeface="Trebuchet MS"/>
                <a:cs typeface="Trebuchet MS"/>
              </a:rPr>
              <a:t>Campus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4960" y="9556750"/>
            <a:ext cx="1460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868686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9384" y="9672637"/>
            <a:ext cx="568261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latin typeface="Times New Roman"/>
                <a:cs typeface="Times New Roman"/>
              </a:rPr>
              <a:t>Department</a:t>
            </a:r>
            <a:r>
              <a:rPr dirty="0" sz="2150" spc="24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of</a:t>
            </a:r>
            <a:r>
              <a:rPr dirty="0" sz="2150" spc="17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Engineering</a:t>
            </a:r>
            <a:r>
              <a:rPr dirty="0" sz="2150" spc="24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Science</a:t>
            </a:r>
            <a:r>
              <a:rPr dirty="0" sz="2150" spc="15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&amp;</a:t>
            </a:r>
            <a:r>
              <a:rPr dirty="0" sz="2150" spc="250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Humanities</a:t>
            </a:r>
            <a:endParaRPr sz="21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0" y="276225"/>
            <a:ext cx="1066800" cy="838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1609725"/>
            <a:ext cx="16611600" cy="6962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2026-09-17T16:33:44Z</dcterms:created>
  <dcterms:modified xsi:type="dcterms:W3CDTF">2026-09-17T16:33:44Z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2026-09-17T00:00:00Z</vt:filetime>
  </property>
  <property fmtid="{D5CDD505-2E9C-101B-9397-08002B2CF9AE}" pid="4" name="LastSaved">
    <vt:filetime>2026-09-17T00:00:00Z</vt:filetime>
  </property>
</Properties>
</file>